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1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 u="sng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 u="sng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 u="sng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 u="sng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540" y="6400800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9460" y="0"/>
                </a:moveTo>
                <a:lnTo>
                  <a:pt x="0" y="0"/>
                </a:lnTo>
                <a:lnTo>
                  <a:pt x="0" y="457200"/>
                </a:lnTo>
                <a:lnTo>
                  <a:pt x="12189460" y="457200"/>
                </a:lnTo>
                <a:lnTo>
                  <a:pt x="12189460" y="0"/>
                </a:lnTo>
                <a:close/>
              </a:path>
            </a:pathLst>
          </a:custGeom>
          <a:solidFill>
            <a:srgbClr val="2483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490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9460" y="0"/>
                </a:moveTo>
                <a:lnTo>
                  <a:pt x="0" y="0"/>
                </a:lnTo>
                <a:lnTo>
                  <a:pt x="0" y="64135"/>
                </a:lnTo>
                <a:lnTo>
                  <a:pt x="12189460" y="64135"/>
                </a:lnTo>
                <a:lnTo>
                  <a:pt x="12189460" y="0"/>
                </a:lnTo>
                <a:close/>
              </a:path>
            </a:pathLst>
          </a:custGeom>
          <a:solidFill>
            <a:srgbClr val="1CAC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094719" y="1736725"/>
            <a:ext cx="65405" cy="0"/>
          </a:xfrm>
          <a:custGeom>
            <a:avLst/>
            <a:gdLst/>
            <a:ahLst/>
            <a:cxnLst/>
            <a:rect l="l" t="t" r="r" b="b"/>
            <a:pathLst>
              <a:path w="65404">
                <a:moveTo>
                  <a:pt x="0" y="0"/>
                </a:moveTo>
                <a:lnTo>
                  <a:pt x="65404" y="0"/>
                </a:lnTo>
              </a:path>
            </a:pathLst>
          </a:custGeom>
          <a:ln w="6350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540" y="6400800"/>
            <a:ext cx="12189460" cy="457200"/>
          </a:xfrm>
          <a:custGeom>
            <a:avLst/>
            <a:gdLst/>
            <a:ahLst/>
            <a:cxnLst/>
            <a:rect l="l" t="t" r="r" b="b"/>
            <a:pathLst>
              <a:path w="12189460" h="457200">
                <a:moveTo>
                  <a:pt x="12189460" y="0"/>
                </a:moveTo>
                <a:lnTo>
                  <a:pt x="0" y="0"/>
                </a:lnTo>
                <a:lnTo>
                  <a:pt x="0" y="457200"/>
                </a:lnTo>
                <a:lnTo>
                  <a:pt x="12189460" y="457200"/>
                </a:lnTo>
                <a:lnTo>
                  <a:pt x="12189460" y="0"/>
                </a:lnTo>
                <a:close/>
              </a:path>
            </a:pathLst>
          </a:custGeom>
          <a:solidFill>
            <a:srgbClr val="2483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490"/>
            <a:ext cx="12189460" cy="64135"/>
          </a:xfrm>
          <a:custGeom>
            <a:avLst/>
            <a:gdLst/>
            <a:ahLst/>
            <a:cxnLst/>
            <a:rect l="l" t="t" r="r" b="b"/>
            <a:pathLst>
              <a:path w="12189460" h="64135">
                <a:moveTo>
                  <a:pt x="12189460" y="0"/>
                </a:moveTo>
                <a:lnTo>
                  <a:pt x="0" y="0"/>
                </a:lnTo>
                <a:lnTo>
                  <a:pt x="0" y="64135"/>
                </a:lnTo>
                <a:lnTo>
                  <a:pt x="12189460" y="64135"/>
                </a:lnTo>
                <a:lnTo>
                  <a:pt x="12189460" y="0"/>
                </a:lnTo>
                <a:close/>
              </a:path>
            </a:pathLst>
          </a:custGeom>
          <a:solidFill>
            <a:srgbClr val="1CACE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60141" y="38036"/>
            <a:ext cx="5650865" cy="757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 u="sng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67764" y="1350073"/>
            <a:ext cx="10017760" cy="3380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50193" y="6586537"/>
            <a:ext cx="177800" cy="158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7" Type="http://schemas.openxmlformats.org/officeDocument/2006/relationships/slide" Target="slide1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redhat.com/blog?type=article" TargetMode="External"/><Relationship Id="rId2" Type="http://schemas.openxmlformats.org/officeDocument/2006/relationships/hyperlink" Target="https://en.wikipedia.org/wiki/Red_H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rahulprajapati23/RHCSA_v9.0/blob/main/RHCSA_CHEATSHEET_v9.0.pdf" TargetMode="External"/><Relationship Id="rId5" Type="http://schemas.openxmlformats.org/officeDocument/2006/relationships/hyperlink" Target="https://www.redhat.com/en/about" TargetMode="External"/><Relationship Id="rId4" Type="http://schemas.openxmlformats.org/officeDocument/2006/relationships/hyperlink" Target="https://www.redhat.com/en/technologies/linux-platforms/enterprise-linux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92345" y="987742"/>
            <a:ext cx="269557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u="none" spc="-50" dirty="0">
                <a:latin typeface="Calibri"/>
                <a:cs typeface="Calibri"/>
              </a:rPr>
              <a:t>Summer</a:t>
            </a:r>
            <a:r>
              <a:rPr sz="2800" u="none" spc="-114" dirty="0">
                <a:latin typeface="Calibri"/>
                <a:cs typeface="Calibri"/>
              </a:rPr>
              <a:t> </a:t>
            </a:r>
            <a:r>
              <a:rPr sz="2800" u="none" spc="-45" dirty="0">
                <a:latin typeface="Calibri"/>
                <a:cs typeface="Calibri"/>
              </a:rPr>
              <a:t>Internship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7764" y="1350073"/>
            <a:ext cx="10017760" cy="3380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055"/>
              </a:lnSpc>
              <a:spcBef>
                <a:spcPts val="100"/>
              </a:spcBef>
              <a:tabLst>
                <a:tab pos="4023995" algn="l"/>
                <a:tab pos="9966325" algn="l"/>
              </a:tabLst>
            </a:pPr>
            <a:r>
              <a:rPr sz="2800" u="sng" dirty="0">
                <a:uFill>
                  <a:solidFill>
                    <a:srgbClr val="7D7D7D"/>
                  </a:solidFill>
                </a:uFill>
                <a:latin typeface="Calibri"/>
                <a:cs typeface="Calibri"/>
              </a:rPr>
              <a:t>	</a:t>
            </a:r>
            <a:r>
              <a:rPr sz="2800" u="sng" spc="-10" dirty="0">
                <a:uFill>
                  <a:solidFill>
                    <a:srgbClr val="7D7D7D"/>
                  </a:solidFill>
                </a:uFill>
                <a:latin typeface="Calibri"/>
                <a:cs typeface="Calibri"/>
              </a:rPr>
              <a:t>Presentation</a:t>
            </a:r>
            <a:r>
              <a:rPr sz="2800" u="sng" dirty="0">
                <a:uFill>
                  <a:solidFill>
                    <a:srgbClr val="7D7D7D"/>
                  </a:solidFill>
                </a:uFill>
                <a:latin typeface="Calibri"/>
                <a:cs typeface="Calibri"/>
              </a:rPr>
              <a:t>	</a:t>
            </a:r>
            <a:endParaRPr sz="2800">
              <a:latin typeface="Calibri"/>
              <a:cs typeface="Calibri"/>
            </a:endParaRPr>
          </a:p>
          <a:p>
            <a:pPr marR="144145" algn="ctr">
              <a:lnSpc>
                <a:spcPts val="2790"/>
              </a:lnSpc>
            </a:pPr>
            <a:r>
              <a:rPr sz="2800" spc="-25" dirty="0">
                <a:latin typeface="Calibri"/>
                <a:cs typeface="Calibri"/>
              </a:rPr>
              <a:t>on</a:t>
            </a:r>
            <a:endParaRPr sz="2800">
              <a:latin typeface="Calibri"/>
              <a:cs typeface="Calibri"/>
            </a:endParaRPr>
          </a:p>
          <a:p>
            <a:pPr marR="133985" algn="ctr">
              <a:lnSpc>
                <a:spcPts val="3120"/>
              </a:lnSpc>
            </a:pPr>
            <a:r>
              <a:rPr sz="3000" spc="-60" dirty="0">
                <a:latin typeface="Calibri"/>
                <a:cs typeface="Calibri"/>
              </a:rPr>
              <a:t>“RedHat</a:t>
            </a:r>
            <a:r>
              <a:rPr sz="3000" spc="-150" dirty="0">
                <a:latin typeface="Calibri"/>
                <a:cs typeface="Calibri"/>
              </a:rPr>
              <a:t> </a:t>
            </a:r>
            <a:r>
              <a:rPr sz="3000" spc="-60" dirty="0">
                <a:latin typeface="Calibri"/>
                <a:cs typeface="Calibri"/>
              </a:rPr>
              <a:t>Certified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65" dirty="0">
                <a:latin typeface="Calibri"/>
                <a:cs typeface="Calibri"/>
              </a:rPr>
              <a:t>System</a:t>
            </a:r>
            <a:r>
              <a:rPr sz="3000" spc="-80" dirty="0">
                <a:latin typeface="Calibri"/>
                <a:cs typeface="Calibri"/>
              </a:rPr>
              <a:t> </a:t>
            </a:r>
            <a:r>
              <a:rPr sz="3000" spc="-75" dirty="0">
                <a:latin typeface="Calibri"/>
                <a:cs typeface="Calibri"/>
              </a:rPr>
              <a:t>Administrator</a:t>
            </a:r>
            <a:r>
              <a:rPr sz="3000" spc="-1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(RHCSA)”</a:t>
            </a:r>
            <a:endParaRPr sz="3000">
              <a:latin typeface="Calibri"/>
              <a:cs typeface="Calibri"/>
            </a:endParaRPr>
          </a:p>
          <a:p>
            <a:pPr marR="154940" algn="ctr">
              <a:lnSpc>
                <a:spcPts val="2455"/>
              </a:lnSpc>
            </a:pPr>
            <a:r>
              <a:rPr sz="2400" spc="-25" dirty="0"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  <a:p>
            <a:pPr marR="138430" algn="ctr">
              <a:lnSpc>
                <a:spcPts val="2665"/>
              </a:lnSpc>
            </a:pPr>
            <a:r>
              <a:rPr sz="2400" spc="-70" dirty="0">
                <a:latin typeface="Calibri"/>
                <a:cs typeface="Calibri"/>
              </a:rPr>
              <a:t>Rahul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Prajapati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2400">
              <a:latin typeface="Calibri"/>
              <a:cs typeface="Calibri"/>
            </a:endParaRPr>
          </a:p>
          <a:p>
            <a:pPr marR="141605" algn="ctr">
              <a:lnSpc>
                <a:spcPts val="2670"/>
              </a:lnSpc>
            </a:pPr>
            <a:r>
              <a:rPr sz="2300" spc="-85" dirty="0">
                <a:latin typeface="Calibri"/>
                <a:cs typeface="Calibri"/>
              </a:rPr>
              <a:t>INSTITUTE</a:t>
            </a:r>
            <a:r>
              <a:rPr sz="2300" spc="-114" dirty="0">
                <a:latin typeface="Calibri"/>
                <a:cs typeface="Calibri"/>
              </a:rPr>
              <a:t> </a:t>
            </a:r>
            <a:r>
              <a:rPr sz="2300" spc="-45" dirty="0">
                <a:latin typeface="Calibri"/>
                <a:cs typeface="Calibri"/>
              </a:rPr>
              <a:t>OF</a:t>
            </a:r>
            <a:r>
              <a:rPr sz="2300" spc="-70" dirty="0">
                <a:latin typeface="Calibri"/>
                <a:cs typeface="Calibri"/>
              </a:rPr>
              <a:t> </a:t>
            </a:r>
            <a:r>
              <a:rPr sz="2300" spc="-80" dirty="0">
                <a:latin typeface="Calibri"/>
                <a:cs typeface="Calibri"/>
              </a:rPr>
              <a:t>COMPUTER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spc="-80" dirty="0">
                <a:latin typeface="Calibri"/>
                <a:cs typeface="Calibri"/>
              </a:rPr>
              <a:t>TECHNOLOGY,</a:t>
            </a:r>
            <a:r>
              <a:rPr sz="2300" spc="-85" dirty="0">
                <a:latin typeface="Calibri"/>
                <a:cs typeface="Calibri"/>
              </a:rPr>
              <a:t> </a:t>
            </a:r>
            <a:r>
              <a:rPr sz="2300" spc="-75" dirty="0">
                <a:latin typeface="Calibri"/>
                <a:cs typeface="Calibri"/>
              </a:rPr>
              <a:t>GANPAT</a:t>
            </a:r>
            <a:r>
              <a:rPr sz="2300" spc="-8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UNIVERSITY</a:t>
            </a:r>
            <a:endParaRPr sz="2300">
              <a:latin typeface="Calibri"/>
              <a:cs typeface="Calibri"/>
            </a:endParaRPr>
          </a:p>
          <a:p>
            <a:pPr marR="142875" algn="ctr">
              <a:lnSpc>
                <a:spcPts val="2790"/>
              </a:lnSpc>
              <a:tabLst>
                <a:tab pos="1751964" algn="l"/>
              </a:tabLst>
            </a:pPr>
            <a:r>
              <a:rPr sz="2400" dirty="0">
                <a:latin typeface="Calibri"/>
                <a:cs typeface="Calibri"/>
              </a:rPr>
              <a:t>DATE:5</a:t>
            </a:r>
            <a:r>
              <a:rPr sz="2325" baseline="28673" dirty="0">
                <a:latin typeface="Calibri"/>
                <a:cs typeface="Calibri"/>
              </a:rPr>
              <a:t>th</a:t>
            </a:r>
            <a:r>
              <a:rPr sz="2325" spc="104" baseline="28673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Nov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2025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3769" y="76212"/>
            <a:ext cx="3476625" cy="80326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6333490"/>
            <a:ext cx="12192000" cy="524510"/>
            <a:chOff x="0" y="6333490"/>
            <a:chExt cx="12192000" cy="524510"/>
          </a:xfrm>
        </p:grpSpPr>
        <p:sp>
          <p:nvSpPr>
            <p:cNvPr id="6" name="object 6"/>
            <p:cNvSpPr/>
            <p:nvPr/>
          </p:nvSpPr>
          <p:spPr>
            <a:xfrm>
              <a:off x="2540" y="6400800"/>
              <a:ext cx="12189460" cy="457200"/>
            </a:xfrm>
            <a:custGeom>
              <a:avLst/>
              <a:gdLst/>
              <a:ahLst/>
              <a:cxnLst/>
              <a:rect l="l" t="t" r="r" b="b"/>
              <a:pathLst>
                <a:path w="12189460" h="457200">
                  <a:moveTo>
                    <a:pt x="1218946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2189460" y="457200"/>
                  </a:lnTo>
                  <a:lnTo>
                    <a:pt x="12189460" y="0"/>
                  </a:lnTo>
                  <a:close/>
                </a:path>
              </a:pathLst>
            </a:custGeom>
            <a:solidFill>
              <a:srgbClr val="2483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333490"/>
              <a:ext cx="12192000" cy="67310"/>
            </a:xfrm>
            <a:custGeom>
              <a:avLst/>
              <a:gdLst/>
              <a:ahLst/>
              <a:cxnLst/>
              <a:rect l="l" t="t" r="r" b="b"/>
              <a:pathLst>
                <a:path w="12192000" h="67310">
                  <a:moveTo>
                    <a:pt x="12192000" y="0"/>
                  </a:moveTo>
                  <a:lnTo>
                    <a:pt x="0" y="0"/>
                  </a:lnTo>
                  <a:lnTo>
                    <a:pt x="0" y="67310"/>
                  </a:lnTo>
                  <a:lnTo>
                    <a:pt x="12192000" y="67310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1CAC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164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06817" y="851217"/>
            <a:ext cx="41922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sng" spc="-75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</a:rPr>
              <a:t>Table</a:t>
            </a:r>
            <a:r>
              <a:rPr u="sng" spc="-245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</a:rPr>
              <a:t> </a:t>
            </a:r>
            <a:r>
              <a:rPr u="sng" spc="-40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</a:rPr>
              <a:t>of</a:t>
            </a:r>
            <a:r>
              <a:rPr u="sng" spc="-260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</a:rPr>
              <a:t> </a:t>
            </a:r>
            <a:r>
              <a:rPr u="sng" spc="-45" dirty="0">
                <a:solidFill>
                  <a:srgbClr val="0D0D0D"/>
                </a:solidFill>
                <a:uFill>
                  <a:solidFill>
                    <a:srgbClr val="0D0D0D"/>
                  </a:solidFill>
                </a:uFill>
              </a:rPr>
              <a:t>Contents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206817" y="1823211"/>
            <a:ext cx="2452370" cy="3684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1935">
              <a:lnSpc>
                <a:spcPct val="150100"/>
              </a:lnSpc>
              <a:spcBef>
                <a:spcPts val="100"/>
              </a:spcBef>
            </a:pPr>
            <a:r>
              <a:rPr sz="2000" spc="-10" dirty="0">
                <a:solidFill>
                  <a:srgbClr val="0D0D0D"/>
                </a:solidFill>
                <a:latin typeface="Calibri"/>
                <a:cs typeface="Calibri"/>
                <a:hlinkClick r:id="rId2" action="ppaction://hlinksldjump"/>
              </a:rPr>
              <a:t>Introduction</a:t>
            </a:r>
            <a:r>
              <a:rPr sz="2000" spc="-10" dirty="0">
                <a:solidFill>
                  <a:srgbClr val="0D0D0D"/>
                </a:solidFill>
                <a:latin typeface="Calibri"/>
                <a:cs typeface="Calibri"/>
              </a:rPr>
              <a:t> Objectives</a:t>
            </a:r>
            <a:r>
              <a:rPr sz="20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Calibri"/>
                <a:cs typeface="Calibri"/>
              </a:rPr>
              <a:t>Scope </a:t>
            </a:r>
            <a:r>
              <a:rPr sz="2000" dirty="0">
                <a:solidFill>
                  <a:srgbClr val="0D0D0D"/>
                </a:solidFill>
                <a:latin typeface="Calibri"/>
                <a:cs typeface="Calibri"/>
                <a:hlinkClick r:id="rId3" action="ppaction://hlinksldjump"/>
              </a:rPr>
              <a:t>Expected</a:t>
            </a:r>
            <a:r>
              <a:rPr sz="2000" spc="-90" dirty="0">
                <a:solidFill>
                  <a:srgbClr val="0D0D0D"/>
                </a:solidFill>
                <a:latin typeface="Calibri"/>
                <a:cs typeface="Calibri"/>
                <a:hlinkClick r:id="rId3" action="ppaction://hlinksldjump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Calibri"/>
                <a:cs typeface="Calibri"/>
                <a:hlinkClick r:id="rId3" action="ppaction://hlinksldjump"/>
              </a:rPr>
              <a:t>Outcome</a:t>
            </a:r>
            <a:r>
              <a:rPr sz="20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Calibri"/>
                <a:cs typeface="Calibri"/>
                <a:hlinkClick r:id="rId4" action="ppaction://hlinksldjump"/>
              </a:rPr>
              <a:t>Tools</a:t>
            </a:r>
            <a:r>
              <a:rPr sz="2000" spc="-114" dirty="0">
                <a:solidFill>
                  <a:srgbClr val="0D0D0D"/>
                </a:solid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2000" dirty="0">
                <a:solidFill>
                  <a:srgbClr val="0D0D0D"/>
                </a:solidFill>
                <a:latin typeface="Calibri"/>
                <a:cs typeface="Calibri"/>
                <a:hlinkClick r:id="rId4" action="ppaction://hlinksldjump"/>
              </a:rPr>
              <a:t>&amp;</a:t>
            </a:r>
            <a:r>
              <a:rPr sz="2000" spc="-85" dirty="0">
                <a:solidFill>
                  <a:srgbClr val="0D0D0D"/>
                </a:solidFill>
                <a:latin typeface="Calibri"/>
                <a:cs typeface="Calibri"/>
                <a:hlinkClick r:id="rId4" action="ppaction://hlinksldjump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Calibri"/>
                <a:cs typeface="Calibri"/>
                <a:hlinkClick r:id="rId4" action="ppaction://hlinksldjump"/>
              </a:rPr>
              <a:t>Technology</a:t>
            </a:r>
            <a:endParaRPr sz="2000">
              <a:latin typeface="Calibri"/>
              <a:cs typeface="Calibri"/>
            </a:endParaRPr>
          </a:p>
          <a:p>
            <a:pPr marL="12700" marR="5080" algn="just">
              <a:lnSpc>
                <a:spcPct val="150000"/>
              </a:lnSpc>
            </a:pPr>
            <a:r>
              <a:rPr sz="2000" spc="-10" dirty="0">
                <a:solidFill>
                  <a:srgbClr val="0D0D0D"/>
                </a:solidFill>
                <a:latin typeface="Calibri"/>
                <a:cs typeface="Calibri"/>
              </a:rPr>
              <a:t>Methodology</a:t>
            </a:r>
            <a:r>
              <a:rPr sz="2000" spc="-2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65" dirty="0">
                <a:solidFill>
                  <a:srgbClr val="0D0D0D"/>
                </a:solidFill>
                <a:latin typeface="Calibri"/>
                <a:cs typeface="Calibri"/>
              </a:rPr>
              <a:t>(Modules) </a:t>
            </a:r>
            <a:r>
              <a:rPr sz="2000" spc="-20" dirty="0">
                <a:solidFill>
                  <a:srgbClr val="0D0D0D"/>
                </a:solidFill>
                <a:latin typeface="Calibri"/>
                <a:cs typeface="Calibri"/>
                <a:hlinkClick r:id="rId5" action="ppaction://hlinksldjump"/>
              </a:rPr>
              <a:t>Implementation</a:t>
            </a:r>
            <a:r>
              <a:rPr sz="2000" spc="25" dirty="0">
                <a:solidFill>
                  <a:srgbClr val="0D0D0D"/>
                </a:solidFill>
                <a:latin typeface="Calibri"/>
                <a:cs typeface="Calibri"/>
                <a:hlinkClick r:id="rId5" action="ppaction://hlinksldjump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Calibri"/>
                <a:cs typeface="Calibri"/>
                <a:hlinkClick r:id="rId5" action="ppaction://hlinksldjump"/>
              </a:rPr>
              <a:t>Details</a:t>
            </a:r>
            <a:r>
              <a:rPr sz="20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D0D0D"/>
                </a:solidFill>
                <a:latin typeface="Calibri"/>
                <a:cs typeface="Calibri"/>
                <a:hlinkClick r:id="rId6" action="ppaction://hlinksldjump"/>
              </a:rPr>
              <a:t>Conclusion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spc="-10" dirty="0">
                <a:solidFill>
                  <a:srgbClr val="0D0D0D"/>
                </a:solidFill>
                <a:latin typeface="Calibri"/>
                <a:cs typeface="Calibri"/>
                <a:hlinkClick r:id="rId7" action="ppaction://hlinksldjump"/>
              </a:rPr>
              <a:t>References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67618" y="1823211"/>
            <a:ext cx="282575" cy="3684904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spc="-50" dirty="0">
                <a:solidFill>
                  <a:srgbClr val="0D0D0D"/>
                </a:solidFill>
                <a:latin typeface="Calibri"/>
                <a:cs typeface="Calibri"/>
                <a:hlinkClick r:id="rId2" action="ppaction://hlinksldjump"/>
              </a:rPr>
              <a:t>3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spc="-50" dirty="0">
                <a:solidFill>
                  <a:srgbClr val="0D0D0D"/>
                </a:solidFill>
                <a:latin typeface="Calibri"/>
                <a:cs typeface="Calibri"/>
              </a:rPr>
              <a:t>4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0" dirty="0">
                <a:solidFill>
                  <a:srgbClr val="0D0D0D"/>
                </a:solidFill>
                <a:latin typeface="Calibri"/>
                <a:cs typeface="Calibri"/>
                <a:hlinkClick r:id="rId3" action="ppaction://hlinksldjump"/>
              </a:rPr>
              <a:t>5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0" dirty="0">
                <a:solidFill>
                  <a:srgbClr val="0D0D0D"/>
                </a:solidFill>
                <a:latin typeface="Calibri"/>
                <a:cs typeface="Calibri"/>
                <a:hlinkClick r:id="rId4" action="ppaction://hlinksldjump"/>
              </a:rPr>
              <a:t>6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000" spc="-50" dirty="0">
                <a:solidFill>
                  <a:srgbClr val="0D0D0D"/>
                </a:solidFill>
                <a:latin typeface="Calibri"/>
                <a:cs typeface="Calibri"/>
              </a:rPr>
              <a:t>7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50" dirty="0">
                <a:solidFill>
                  <a:srgbClr val="0D0D0D"/>
                </a:solidFill>
                <a:latin typeface="Calibri"/>
                <a:cs typeface="Calibri"/>
                <a:hlinkClick r:id="rId5" action="ppaction://hlinksldjump"/>
              </a:rPr>
              <a:t>9</a:t>
            </a:r>
            <a:endParaRPr sz="2000">
              <a:latin typeface="Calibri"/>
              <a:cs typeface="Calibri"/>
            </a:endParaRPr>
          </a:p>
          <a:p>
            <a:pPr marL="15875">
              <a:lnSpc>
                <a:spcPct val="100000"/>
              </a:lnSpc>
              <a:spcBef>
                <a:spcPts val="1200"/>
              </a:spcBef>
            </a:pPr>
            <a:r>
              <a:rPr sz="2000" spc="-25" dirty="0">
                <a:solidFill>
                  <a:srgbClr val="0D0D0D"/>
                </a:solidFill>
                <a:latin typeface="Calibri"/>
                <a:cs typeface="Calibri"/>
                <a:hlinkClick r:id="rId6" action="ppaction://hlinksldjump"/>
              </a:rPr>
              <a:t>10</a:t>
            </a:r>
            <a:endParaRPr sz="2000">
              <a:latin typeface="Calibri"/>
              <a:cs typeface="Calibri"/>
            </a:endParaRPr>
          </a:p>
          <a:p>
            <a:pPr marL="15875">
              <a:lnSpc>
                <a:spcPct val="100000"/>
              </a:lnSpc>
              <a:spcBef>
                <a:spcPts val="1205"/>
              </a:spcBef>
            </a:pPr>
            <a:r>
              <a:rPr sz="2000" spc="-25" dirty="0">
                <a:solidFill>
                  <a:srgbClr val="0D0D0D"/>
                </a:solidFill>
                <a:latin typeface="Calibri"/>
                <a:cs typeface="Calibri"/>
                <a:hlinkClick r:id="rId7" action="ppaction://hlinksldjump"/>
              </a:rPr>
              <a:t>11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747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1625" y="1162684"/>
            <a:ext cx="11626215" cy="42113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6985" algn="just">
              <a:lnSpc>
                <a:spcPct val="99000"/>
              </a:lnSpc>
              <a:spcBef>
                <a:spcPts val="120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goal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Red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Hat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Certified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System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Administrator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(RHCSA)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curriculum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provide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participants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fundamental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knowledge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dirty="0">
                <a:latin typeface="Calibri"/>
                <a:cs typeface="Calibri"/>
              </a:rPr>
              <a:t>abilities</a:t>
            </a:r>
            <a:r>
              <a:rPr sz="1600" spc="4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needed</a:t>
            </a:r>
            <a:r>
              <a:rPr sz="1600" spc="4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4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administer</a:t>
            </a:r>
            <a:r>
              <a:rPr sz="1600" spc="4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Red</a:t>
            </a:r>
            <a:r>
              <a:rPr sz="1600" spc="3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Hat</a:t>
            </a:r>
            <a:r>
              <a:rPr sz="1600" spc="409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Enterprise</a:t>
            </a:r>
            <a:r>
              <a:rPr sz="1600" spc="4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Linux</a:t>
            </a:r>
            <a:r>
              <a:rPr sz="1600" spc="4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(RHEL)</a:t>
            </a:r>
            <a:r>
              <a:rPr sz="1600" spc="4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systems.</a:t>
            </a:r>
            <a:r>
              <a:rPr sz="1600" spc="4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Important</a:t>
            </a:r>
            <a:r>
              <a:rPr sz="1600" spc="3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topics</a:t>
            </a:r>
            <a:r>
              <a:rPr sz="1600" spc="4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covered</a:t>
            </a:r>
            <a:r>
              <a:rPr sz="1600" spc="409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4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4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training</a:t>
            </a:r>
            <a:r>
              <a:rPr sz="1600" spc="3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include</a:t>
            </a:r>
            <a:r>
              <a:rPr sz="1600" spc="3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network </a:t>
            </a:r>
            <a:r>
              <a:rPr sz="1600" dirty="0">
                <a:latin typeface="Calibri"/>
                <a:cs typeface="Calibri"/>
              </a:rPr>
              <a:t>configuration,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permissions,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system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management,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group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management,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task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automation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scripting.</a:t>
            </a:r>
            <a:endParaRPr sz="1600">
              <a:latin typeface="Calibri"/>
              <a:cs typeface="Calibri"/>
            </a:endParaRPr>
          </a:p>
          <a:p>
            <a:pPr marL="12700" marR="5080" algn="just">
              <a:lnSpc>
                <a:spcPct val="99700"/>
              </a:lnSpc>
              <a:spcBef>
                <a:spcPts val="1435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industry-</a:t>
            </a:r>
            <a:r>
              <a:rPr sz="1600" dirty="0">
                <a:latin typeface="Calibri"/>
                <a:cs typeface="Calibri"/>
              </a:rPr>
              <a:t>recognized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RHCSA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certification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selected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because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extensive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curriculum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corresponds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demands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modern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2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system</a:t>
            </a:r>
            <a:r>
              <a:rPr sz="1600" spc="2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administration.</a:t>
            </a:r>
            <a:r>
              <a:rPr sz="1600" spc="2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2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offers</a:t>
            </a:r>
            <a:r>
              <a:rPr sz="1600" spc="2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20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strong</a:t>
            </a:r>
            <a:r>
              <a:rPr sz="1600" spc="2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foundation</a:t>
            </a:r>
            <a:r>
              <a:rPr sz="1600" spc="229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2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administering</a:t>
            </a:r>
            <a:r>
              <a:rPr sz="1600" spc="2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RHEL</a:t>
            </a:r>
            <a:r>
              <a:rPr sz="1600" spc="2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environments,</a:t>
            </a:r>
            <a:r>
              <a:rPr sz="1600" spc="2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229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2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frequently</a:t>
            </a:r>
            <a:r>
              <a:rPr sz="1600" spc="2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utilized</a:t>
            </a:r>
            <a:r>
              <a:rPr sz="1600" spc="2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3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business contexts.</a:t>
            </a:r>
            <a:endParaRPr sz="1600">
              <a:latin typeface="Calibri"/>
              <a:cs typeface="Calibri"/>
            </a:endParaRPr>
          </a:p>
          <a:p>
            <a:pPr marL="12700" marR="6985" algn="just">
              <a:lnSpc>
                <a:spcPct val="99600"/>
              </a:lnSpc>
              <a:spcBef>
                <a:spcPts val="1415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2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Red</a:t>
            </a:r>
            <a:r>
              <a:rPr sz="1600" spc="2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Hat</a:t>
            </a:r>
            <a:r>
              <a:rPr sz="1600" spc="2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Certified</a:t>
            </a:r>
            <a:r>
              <a:rPr sz="1600" spc="2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System</a:t>
            </a:r>
            <a:r>
              <a:rPr sz="1600" spc="229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Administrator</a:t>
            </a:r>
            <a:r>
              <a:rPr sz="1600" spc="2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(RHCSA)</a:t>
            </a:r>
            <a:r>
              <a:rPr sz="1600" spc="2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exam</a:t>
            </a:r>
            <a:r>
              <a:rPr sz="1600" spc="2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2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performance-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2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test</a:t>
            </a:r>
            <a:r>
              <a:rPr sz="1600" spc="2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evaluates</a:t>
            </a:r>
            <a:r>
              <a:rPr sz="1600" spc="20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2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candidate's</a:t>
            </a:r>
            <a:r>
              <a:rPr sz="1600" spc="2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ability</a:t>
            </a:r>
            <a:r>
              <a:rPr sz="1600" spc="2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2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 </a:t>
            </a:r>
            <a:r>
              <a:rPr sz="1600" dirty="0">
                <a:latin typeface="Calibri"/>
                <a:cs typeface="Calibri"/>
              </a:rPr>
              <a:t>essential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administration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tasks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Enterprise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Linux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(RHEL).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hands-on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exam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ensures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candidates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possess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practical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skills </a:t>
            </a:r>
            <a:r>
              <a:rPr sz="1600" dirty="0">
                <a:latin typeface="Calibri"/>
                <a:cs typeface="Calibri"/>
              </a:rPr>
              <a:t>necessary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 managing RHEL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systems.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Study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official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Red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documentation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supplementary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guides.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Set up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virtual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lab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environment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 </a:t>
            </a:r>
            <a:r>
              <a:rPr sz="1600" dirty="0">
                <a:latin typeface="Calibri"/>
                <a:cs typeface="Calibri"/>
              </a:rPr>
              <a:t>practice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RHEL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commands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configurations.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exam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300 marks,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 that,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get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210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marks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eligible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certificate.</a:t>
            </a:r>
            <a:endParaRPr sz="1600">
              <a:latin typeface="Calibri"/>
              <a:cs typeface="Calibri"/>
            </a:endParaRPr>
          </a:p>
          <a:p>
            <a:pPr marL="12700" marR="7620" algn="just">
              <a:lnSpc>
                <a:spcPct val="99400"/>
              </a:lnSpc>
              <a:spcBef>
                <a:spcPts val="1440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RHCSA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certification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highly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valued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industry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because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validates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professional's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ability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handle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core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system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administration </a:t>
            </a:r>
            <a:r>
              <a:rPr sz="1600" dirty="0">
                <a:latin typeface="Calibri"/>
                <a:cs typeface="Calibri"/>
              </a:rPr>
              <a:t>tasks.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RHEL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being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leading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operating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system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many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organizations,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having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RHCSA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certification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enhances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job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prospects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prepares </a:t>
            </a:r>
            <a:r>
              <a:rPr sz="1600" dirty="0">
                <a:latin typeface="Calibri"/>
                <a:cs typeface="Calibri"/>
              </a:rPr>
              <a:t>individuals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advanced</a:t>
            </a:r>
            <a:r>
              <a:rPr sz="1600" spc="1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roles</a:t>
            </a:r>
            <a:r>
              <a:rPr sz="1600" spc="1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1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Linux</a:t>
            </a:r>
            <a:r>
              <a:rPr sz="1600" spc="1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system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administration.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skills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gained</a:t>
            </a:r>
            <a:r>
              <a:rPr sz="1600" spc="1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certification</a:t>
            </a:r>
            <a:r>
              <a:rPr sz="1600" spc="1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1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crucial</a:t>
            </a:r>
            <a:r>
              <a:rPr sz="1600" spc="1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main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taining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 </a:t>
            </a:r>
            <a:r>
              <a:rPr sz="1600" dirty="0">
                <a:latin typeface="Calibri"/>
                <a:cs typeface="Calibri"/>
              </a:rPr>
              <a:t>stability,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security,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efficiency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diverse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0414" y="-31813"/>
            <a:ext cx="46367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Objectives</a:t>
            </a:r>
            <a:r>
              <a:rPr spc="-245" dirty="0"/>
              <a:t> </a:t>
            </a:r>
            <a:r>
              <a:rPr dirty="0"/>
              <a:t>&amp;</a:t>
            </a:r>
            <a:r>
              <a:rPr spc="-180" dirty="0"/>
              <a:t> </a:t>
            </a:r>
            <a:r>
              <a:rPr spc="-10" dirty="0"/>
              <a:t>Scope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80975" y="637857"/>
            <a:ext cx="10106025" cy="5473065"/>
          </a:xfrm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 marL="304165" indent="-291465">
              <a:lnSpc>
                <a:spcPct val="100000"/>
              </a:lnSpc>
              <a:spcBef>
                <a:spcPts val="1555"/>
              </a:spcBef>
              <a:buClr>
                <a:srgbClr val="1CACE2"/>
              </a:buClr>
              <a:buSzPct val="90909"/>
              <a:buFont typeface="Wingdings"/>
              <a:buChar char=""/>
              <a:tabLst>
                <a:tab pos="304165" algn="l"/>
              </a:tabLst>
            </a:pP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Objectives:</a:t>
            </a:r>
            <a:endParaRPr sz="2200">
              <a:latin typeface="Calibri Light"/>
              <a:cs typeface="Calibri Light"/>
            </a:endParaRPr>
          </a:p>
          <a:p>
            <a:pPr marL="153035" indent="-140335">
              <a:lnSpc>
                <a:spcPct val="100000"/>
              </a:lnSpc>
              <a:spcBef>
                <a:spcPts val="1060"/>
              </a:spcBef>
              <a:buClr>
                <a:srgbClr val="1CACE2"/>
              </a:buClr>
              <a:buFont typeface="Arial MT"/>
              <a:buChar char="•"/>
              <a:tabLst>
                <a:tab pos="153035" algn="l"/>
              </a:tabLst>
            </a:pPr>
            <a:r>
              <a:rPr sz="1600" spc="-10" dirty="0">
                <a:latin typeface="Calibri"/>
                <a:cs typeface="Calibri"/>
              </a:rPr>
              <a:t>Develop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deep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understanding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Hat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Enterprise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Linux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(RHEL)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architecture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system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administration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principles.</a:t>
            </a:r>
            <a:endParaRPr sz="1600">
              <a:latin typeface="Calibri"/>
              <a:cs typeface="Calibri"/>
            </a:endParaRPr>
          </a:p>
          <a:p>
            <a:pPr marL="153035" indent="-140335">
              <a:lnSpc>
                <a:spcPct val="100000"/>
              </a:lnSpc>
              <a:spcBef>
                <a:spcPts val="1010"/>
              </a:spcBef>
              <a:buClr>
                <a:srgbClr val="1CACE2"/>
              </a:buClr>
              <a:buFont typeface="Arial MT"/>
              <a:buChar char="•"/>
              <a:tabLst>
                <a:tab pos="153035" algn="l"/>
              </a:tabLst>
            </a:pPr>
            <a:r>
              <a:rPr sz="1600" dirty="0">
                <a:latin typeface="Calibri"/>
                <a:cs typeface="Calibri"/>
              </a:rPr>
              <a:t>Prepare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thoroughly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the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RHCSA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certification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exam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with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mock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tests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review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sessions.</a:t>
            </a:r>
            <a:endParaRPr sz="1600">
              <a:latin typeface="Calibri"/>
              <a:cs typeface="Calibri"/>
            </a:endParaRPr>
          </a:p>
          <a:p>
            <a:pPr marL="153035" indent="-140335">
              <a:lnSpc>
                <a:spcPct val="100000"/>
              </a:lnSpc>
              <a:spcBef>
                <a:spcPts val="1005"/>
              </a:spcBef>
              <a:buClr>
                <a:srgbClr val="1CACE2"/>
              </a:buClr>
              <a:buFont typeface="Arial MT"/>
              <a:buChar char="•"/>
              <a:tabLst>
                <a:tab pos="153035" algn="l"/>
              </a:tabLst>
            </a:pPr>
            <a:r>
              <a:rPr sz="1600" spc="-20" dirty="0">
                <a:latin typeface="Calibri"/>
                <a:cs typeface="Calibri"/>
              </a:rPr>
              <a:t>To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study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explore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advanced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RHEL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topics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such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security,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networking,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virtualization,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cloud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integration.</a:t>
            </a:r>
            <a:endParaRPr sz="1600">
              <a:latin typeface="Calibri"/>
              <a:cs typeface="Calibri"/>
            </a:endParaRPr>
          </a:p>
          <a:p>
            <a:pPr marL="153035" indent="-140335">
              <a:lnSpc>
                <a:spcPct val="100000"/>
              </a:lnSpc>
              <a:spcBef>
                <a:spcPts val="1030"/>
              </a:spcBef>
              <a:buClr>
                <a:srgbClr val="1CACE2"/>
              </a:buClr>
              <a:buFont typeface="Arial MT"/>
              <a:buChar char="•"/>
              <a:tabLst>
                <a:tab pos="153035" algn="l"/>
              </a:tabLst>
            </a:pPr>
            <a:r>
              <a:rPr sz="1600" spc="-10" dirty="0">
                <a:latin typeface="Calibri"/>
                <a:cs typeface="Calibri"/>
              </a:rPr>
              <a:t>Building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foundation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further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specialization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Linux.</a:t>
            </a:r>
            <a:endParaRPr sz="1600">
              <a:latin typeface="Calibri"/>
              <a:cs typeface="Calibri"/>
            </a:endParaRPr>
          </a:p>
          <a:p>
            <a:pPr marL="153035" indent="-140335">
              <a:lnSpc>
                <a:spcPct val="100000"/>
              </a:lnSpc>
              <a:spcBef>
                <a:spcPts val="1005"/>
              </a:spcBef>
              <a:buClr>
                <a:srgbClr val="1CACE2"/>
              </a:buClr>
              <a:buFont typeface="Arial MT"/>
              <a:buChar char="•"/>
              <a:tabLst>
                <a:tab pos="153035" algn="l"/>
              </a:tabLst>
            </a:pPr>
            <a:r>
              <a:rPr sz="1600" dirty="0">
                <a:latin typeface="Calibri"/>
                <a:cs typeface="Calibri"/>
              </a:rPr>
              <a:t>To</a:t>
            </a:r>
            <a:r>
              <a:rPr sz="1600" spc="-9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prepared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Hat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Certified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System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Administrator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(RHCSA)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exam.</a:t>
            </a:r>
            <a:endParaRPr sz="1600">
              <a:latin typeface="Calibri"/>
              <a:cs typeface="Calibri"/>
            </a:endParaRPr>
          </a:p>
          <a:p>
            <a:pPr marL="304165" indent="-291465">
              <a:lnSpc>
                <a:spcPct val="100000"/>
              </a:lnSpc>
              <a:spcBef>
                <a:spcPts val="835"/>
              </a:spcBef>
              <a:buClr>
                <a:srgbClr val="1CACE2"/>
              </a:buClr>
              <a:buSzPct val="90909"/>
              <a:buFont typeface="Wingdings"/>
              <a:buChar char=""/>
              <a:tabLst>
                <a:tab pos="304165" algn="l"/>
              </a:tabLst>
            </a:pP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Calibri Light"/>
                <a:cs typeface="Calibri Light"/>
              </a:rPr>
              <a:t>Scope:</a:t>
            </a:r>
            <a:endParaRPr sz="2200">
              <a:latin typeface="Calibri Light"/>
              <a:cs typeface="Calibri Light"/>
            </a:endParaRPr>
          </a:p>
          <a:p>
            <a:pPr marL="153035" indent="-140335">
              <a:lnSpc>
                <a:spcPct val="100000"/>
              </a:lnSpc>
              <a:spcBef>
                <a:spcPts val="1060"/>
              </a:spcBef>
              <a:buClr>
                <a:srgbClr val="1CACE2"/>
              </a:buClr>
              <a:buFont typeface="Arial MT"/>
              <a:buChar char="•"/>
              <a:tabLst>
                <a:tab pos="153035" algn="l"/>
              </a:tabLst>
            </a:pPr>
            <a:r>
              <a:rPr sz="1600" dirty="0">
                <a:latin typeface="Calibri"/>
                <a:cs typeface="Calibri"/>
              </a:rPr>
              <a:t>Good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understanding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essential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command-</a:t>
            </a:r>
            <a:r>
              <a:rPr sz="1600" dirty="0">
                <a:latin typeface="Calibri"/>
                <a:cs typeface="Calibri"/>
              </a:rPr>
              <a:t>line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tools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shell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environments.</a:t>
            </a:r>
            <a:endParaRPr sz="1600">
              <a:latin typeface="Calibri"/>
              <a:cs typeface="Calibri"/>
            </a:endParaRPr>
          </a:p>
          <a:p>
            <a:pPr marL="153035" indent="-140335">
              <a:lnSpc>
                <a:spcPct val="100000"/>
              </a:lnSpc>
              <a:spcBef>
                <a:spcPts val="1005"/>
              </a:spcBef>
              <a:buClr>
                <a:srgbClr val="1CACE2"/>
              </a:buClr>
              <a:buFont typeface="Arial MT"/>
              <a:buChar char="•"/>
              <a:tabLst>
                <a:tab pos="153035" algn="l"/>
              </a:tabLst>
            </a:pPr>
            <a:r>
              <a:rPr sz="1600" spc="-10" dirty="0">
                <a:latin typeface="Calibri"/>
                <a:cs typeface="Calibri"/>
              </a:rPr>
              <a:t>Navigating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Linux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filesystem,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managing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files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directories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efficiently.</a:t>
            </a:r>
            <a:endParaRPr sz="1600">
              <a:latin typeface="Calibri"/>
              <a:cs typeface="Calibri"/>
            </a:endParaRPr>
          </a:p>
          <a:p>
            <a:pPr marL="153035" indent="-140335">
              <a:lnSpc>
                <a:spcPct val="100000"/>
              </a:lnSpc>
              <a:spcBef>
                <a:spcPts val="1035"/>
              </a:spcBef>
              <a:buClr>
                <a:srgbClr val="1CACE2"/>
              </a:buClr>
              <a:buFont typeface="Arial MT"/>
              <a:buChar char="•"/>
              <a:tabLst>
                <a:tab pos="153035" algn="l"/>
              </a:tabLst>
            </a:pPr>
            <a:r>
              <a:rPr sz="1600" spc="-10" dirty="0">
                <a:latin typeface="Calibri"/>
                <a:cs typeface="Calibri"/>
              </a:rPr>
              <a:t>Configuring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local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storage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9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partitions,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managing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file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systems,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swap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space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LVM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(Logical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Volume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Manager).</a:t>
            </a:r>
            <a:endParaRPr sz="1600">
              <a:latin typeface="Calibri"/>
              <a:cs typeface="Calibri"/>
            </a:endParaRPr>
          </a:p>
          <a:p>
            <a:pPr marL="153035" indent="-140335">
              <a:lnSpc>
                <a:spcPct val="100000"/>
              </a:lnSpc>
              <a:spcBef>
                <a:spcPts val="1030"/>
              </a:spcBef>
              <a:buClr>
                <a:srgbClr val="1CACE2"/>
              </a:buClr>
              <a:buFont typeface="Arial MT"/>
              <a:buChar char="•"/>
              <a:tabLst>
                <a:tab pos="153035" algn="l"/>
              </a:tabLst>
            </a:pPr>
            <a:r>
              <a:rPr sz="1600" spc="-10" dirty="0">
                <a:latin typeface="Calibri"/>
                <a:cs typeface="Calibri"/>
              </a:rPr>
              <a:t>Monitoring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managing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system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processes, job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scheduling.</a:t>
            </a:r>
            <a:endParaRPr sz="1600">
              <a:latin typeface="Calibri"/>
              <a:cs typeface="Calibri"/>
            </a:endParaRPr>
          </a:p>
          <a:p>
            <a:pPr marL="153035" indent="-140335">
              <a:lnSpc>
                <a:spcPct val="100000"/>
              </a:lnSpc>
              <a:spcBef>
                <a:spcPts val="1005"/>
              </a:spcBef>
              <a:buClr>
                <a:srgbClr val="1CACE2"/>
              </a:buClr>
              <a:buFont typeface="Arial MT"/>
              <a:buChar char="•"/>
              <a:tabLst>
                <a:tab pos="153035" algn="l"/>
              </a:tabLst>
            </a:pPr>
            <a:r>
              <a:rPr sz="1600" spc="-10" dirty="0">
                <a:latin typeface="Calibri"/>
                <a:cs typeface="Calibri"/>
              </a:rPr>
              <a:t>Setting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managing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network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interfaces,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configuring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IP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addresses.</a:t>
            </a:r>
            <a:endParaRPr sz="1600">
              <a:latin typeface="Calibri"/>
              <a:cs typeface="Calibri"/>
            </a:endParaRPr>
          </a:p>
          <a:p>
            <a:pPr marL="153035" indent="-140335">
              <a:lnSpc>
                <a:spcPct val="100000"/>
              </a:lnSpc>
              <a:spcBef>
                <a:spcPts val="1030"/>
              </a:spcBef>
              <a:buClr>
                <a:srgbClr val="1CACE2"/>
              </a:buClr>
              <a:buFont typeface="Arial MT"/>
              <a:buChar char="•"/>
              <a:tabLst>
                <a:tab pos="153035" algn="l"/>
              </a:tabLst>
            </a:pPr>
            <a:r>
              <a:rPr sz="1600" dirty="0">
                <a:latin typeface="Calibri"/>
                <a:cs typeface="Calibri"/>
              </a:rPr>
              <a:t>Enabling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configuring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SELinux,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managing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policies,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troubleshooting SELinux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issues.</a:t>
            </a:r>
            <a:endParaRPr sz="1600">
              <a:latin typeface="Calibri"/>
              <a:cs typeface="Calibri"/>
            </a:endParaRPr>
          </a:p>
          <a:p>
            <a:pPr marL="153035" indent="-140335">
              <a:lnSpc>
                <a:spcPct val="100000"/>
              </a:lnSpc>
              <a:spcBef>
                <a:spcPts val="1010"/>
              </a:spcBef>
              <a:buClr>
                <a:srgbClr val="1CACE2"/>
              </a:buClr>
              <a:buFont typeface="Arial MT"/>
              <a:buChar char="•"/>
              <a:tabLst>
                <a:tab pos="153035" algn="l"/>
              </a:tabLst>
            </a:pPr>
            <a:r>
              <a:rPr sz="1600" spc="-10" dirty="0">
                <a:latin typeface="Calibri"/>
                <a:cs typeface="Calibri"/>
              </a:rPr>
              <a:t>Enhancing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professional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qualifications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with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respected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certification,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opening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opportunities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for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advancement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field.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389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Expected</a:t>
            </a:r>
            <a:r>
              <a:rPr spc="-220" dirty="0"/>
              <a:t> </a:t>
            </a:r>
            <a:r>
              <a:rPr spc="-10" dirty="0"/>
              <a:t>Outcome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22250" y="1245234"/>
            <a:ext cx="11814175" cy="189992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04775" marR="5080" indent="-92075">
              <a:lnSpc>
                <a:spcPct val="101200"/>
              </a:lnSpc>
              <a:spcBef>
                <a:spcPts val="70"/>
              </a:spcBef>
              <a:buFont typeface="Wingdings"/>
              <a:buChar char=""/>
              <a:tabLst>
                <a:tab pos="104775" algn="l"/>
                <a:tab pos="187325" algn="l"/>
              </a:tabLst>
            </a:pPr>
            <a:r>
              <a:rPr sz="2000" spc="-40" dirty="0">
                <a:solidFill>
                  <a:srgbClr val="1CACE2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Hands-</a:t>
            </a:r>
            <a:r>
              <a:rPr sz="2000" b="1" dirty="0">
                <a:latin typeface="Calibri"/>
                <a:cs typeface="Calibri"/>
              </a:rPr>
              <a:t>on</a:t>
            </a:r>
            <a:r>
              <a:rPr sz="2000" b="1" spc="20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Experience:</a:t>
            </a:r>
            <a:r>
              <a:rPr sz="2000" b="1" spc="2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performance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Hat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Certified</a:t>
            </a:r>
            <a:r>
              <a:rPr sz="2000" spc="2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20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Administrator</a:t>
            </a:r>
            <a:r>
              <a:rPr sz="2000" spc="2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(RHCSA)</a:t>
            </a:r>
            <a:r>
              <a:rPr sz="2000" spc="2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exam,</a:t>
            </a:r>
            <a:r>
              <a:rPr sz="2000" spc="229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which evaluates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practical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knowledge,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enable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handle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real-</a:t>
            </a:r>
            <a:r>
              <a:rPr sz="2000" dirty="0">
                <a:latin typeface="Calibri"/>
                <a:cs typeface="Calibri"/>
              </a:rPr>
              <a:t>world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situations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ease.</a:t>
            </a:r>
            <a:endParaRPr sz="2000">
              <a:latin typeface="Calibri"/>
              <a:cs typeface="Calibri"/>
            </a:endParaRPr>
          </a:p>
          <a:p>
            <a:pPr marL="184150" indent="-171450">
              <a:lnSpc>
                <a:spcPct val="100000"/>
              </a:lnSpc>
              <a:spcBef>
                <a:spcPts val="1350"/>
              </a:spcBef>
              <a:buClr>
                <a:srgbClr val="1CACE2"/>
              </a:buClr>
              <a:buFont typeface="Wingdings"/>
              <a:buChar char=""/>
              <a:tabLst>
                <a:tab pos="184150" algn="l"/>
              </a:tabLst>
            </a:pPr>
            <a:r>
              <a:rPr sz="2000" b="1" dirty="0">
                <a:latin typeface="Calibri"/>
                <a:cs typeface="Calibri"/>
              </a:rPr>
              <a:t>Task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Automation</a:t>
            </a:r>
            <a:r>
              <a:rPr sz="2000" spc="-10" dirty="0">
                <a:latin typeface="Calibri"/>
                <a:cs typeface="Calibri"/>
              </a:rPr>
              <a:t>: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ability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automate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tasks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bash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scripting,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crontab,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improving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efficiency.</a:t>
            </a:r>
            <a:endParaRPr sz="2000">
              <a:latin typeface="Calibri"/>
              <a:cs typeface="Calibri"/>
            </a:endParaRPr>
          </a:p>
          <a:p>
            <a:pPr marL="104775" marR="69215" indent="-92075">
              <a:lnSpc>
                <a:spcPct val="100000"/>
              </a:lnSpc>
              <a:spcBef>
                <a:spcPts val="1375"/>
              </a:spcBef>
              <a:buClr>
                <a:srgbClr val="1CACE2"/>
              </a:buClr>
              <a:buFont typeface="Wingdings"/>
              <a:buChar char=""/>
              <a:tabLst>
                <a:tab pos="104775" algn="l"/>
                <a:tab pos="187325" algn="l"/>
                <a:tab pos="1730375" algn="l"/>
              </a:tabLst>
            </a:pPr>
            <a:r>
              <a:rPr dirty="0"/>
              <a:t>	</a:t>
            </a:r>
            <a:r>
              <a:rPr sz="2000" b="1" dirty="0">
                <a:latin typeface="Calibri"/>
                <a:cs typeface="Calibri"/>
              </a:rPr>
              <a:t>Improved</a:t>
            </a:r>
            <a:r>
              <a:rPr sz="2000" b="1" spc="1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Security:</a:t>
            </a:r>
            <a:r>
              <a:rPr sz="2000" b="1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ability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implement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maintain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robust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security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policies,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file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permissions,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user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control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measures,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contributing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overall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security.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250" y="3303523"/>
            <a:ext cx="118040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187325" algn="l"/>
              </a:tabLst>
            </a:pPr>
            <a:r>
              <a:rPr sz="2000" b="1" dirty="0">
                <a:latin typeface="Calibri"/>
                <a:cs typeface="Calibri"/>
              </a:rPr>
              <a:t>Preparation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for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Industry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Certification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Completing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RHCSA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program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prepares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candidates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Hat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2250" y="3440429"/>
            <a:ext cx="9012555" cy="977900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104775">
              <a:lnSpc>
                <a:spcPct val="100000"/>
              </a:lnSpc>
              <a:spcBef>
                <a:spcPts val="1450"/>
              </a:spcBef>
              <a:tabLst>
                <a:tab pos="1225550" algn="l"/>
              </a:tabLst>
            </a:pPr>
            <a:r>
              <a:rPr sz="2000" spc="-10" dirty="0">
                <a:latin typeface="Calibri"/>
                <a:cs typeface="Calibri"/>
              </a:rPr>
              <a:t>Certified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System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Administrator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exam.</a:t>
            </a:r>
            <a:endParaRPr sz="20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1350"/>
              </a:spcBef>
              <a:buClr>
                <a:srgbClr val="1CACE2"/>
              </a:buClr>
              <a:buFont typeface="Wingdings"/>
              <a:buChar char=""/>
              <a:tabLst>
                <a:tab pos="187325" algn="l"/>
                <a:tab pos="1393825" algn="l"/>
                <a:tab pos="1927225" algn="l"/>
                <a:tab pos="3648710" algn="l"/>
                <a:tab pos="4832985" algn="l"/>
                <a:tab pos="5357495" algn="l"/>
                <a:tab pos="6230620" algn="l"/>
                <a:tab pos="7649845" algn="l"/>
                <a:tab pos="8682355" algn="l"/>
              </a:tabLst>
            </a:pPr>
            <a:r>
              <a:rPr sz="2000" b="1" spc="-10" dirty="0">
                <a:latin typeface="Calibri"/>
                <a:cs typeface="Calibri"/>
              </a:rPr>
              <a:t>Enhanced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25" dirty="0">
                <a:latin typeface="Calibri"/>
                <a:cs typeface="Calibri"/>
              </a:rPr>
              <a:t>Job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Opportunities: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Obtaining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the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RHCSA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certification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expands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job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97365" y="4088129"/>
            <a:ext cx="26860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90675" algn="l"/>
                <a:tab pos="1962150" algn="l"/>
              </a:tabLst>
            </a:pPr>
            <a:r>
              <a:rPr sz="2000" spc="-10" dirty="0">
                <a:latin typeface="Calibri"/>
                <a:cs typeface="Calibri"/>
              </a:rPr>
              <a:t>opportunities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in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4325" y="4390008"/>
            <a:ext cx="88499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administration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advanced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Linux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positions,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particularly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settings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utilize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Linux.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389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Tools</a:t>
            </a:r>
            <a:r>
              <a:rPr spc="-254" dirty="0"/>
              <a:t> </a:t>
            </a:r>
            <a:r>
              <a:rPr dirty="0"/>
              <a:t>&amp;</a:t>
            </a:r>
            <a:r>
              <a:rPr spc="-235" dirty="0"/>
              <a:t> </a:t>
            </a:r>
            <a:r>
              <a:rPr spc="-70" dirty="0"/>
              <a:t>Technology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80975" y="1054734"/>
            <a:ext cx="11830685" cy="233172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04775" marR="6350" indent="-92075" algn="just">
              <a:lnSpc>
                <a:spcPts val="2180"/>
              </a:lnSpc>
              <a:spcBef>
                <a:spcPts val="355"/>
              </a:spcBef>
              <a:buClr>
                <a:srgbClr val="1CACE2"/>
              </a:buClr>
              <a:buFont typeface="Wingdings"/>
              <a:buChar char=""/>
              <a:tabLst>
                <a:tab pos="104775" algn="l"/>
                <a:tab pos="187325" algn="l"/>
              </a:tabLst>
            </a:pPr>
            <a:r>
              <a:rPr dirty="0"/>
              <a:t>	</a:t>
            </a:r>
            <a:r>
              <a:rPr sz="2000" b="1" dirty="0">
                <a:latin typeface="Calibri"/>
                <a:cs typeface="Calibri"/>
              </a:rPr>
              <a:t>Red</a:t>
            </a:r>
            <a:r>
              <a:rPr sz="2000" b="1" spc="1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Hat</a:t>
            </a:r>
            <a:r>
              <a:rPr sz="2000" b="1" spc="1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Documentation</a:t>
            </a:r>
            <a:r>
              <a:rPr sz="2000" b="1" spc="1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1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Resources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official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documentation,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training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manuals,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community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guides </a:t>
            </a:r>
            <a:r>
              <a:rPr sz="2000" dirty="0">
                <a:latin typeface="Calibri"/>
                <a:cs typeface="Calibri"/>
              </a:rPr>
              <a:t>function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resources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studying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enhancing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comprehension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administration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concepts.</a:t>
            </a:r>
            <a:endParaRPr sz="2000">
              <a:latin typeface="Calibri"/>
              <a:cs typeface="Calibri"/>
            </a:endParaRPr>
          </a:p>
          <a:p>
            <a:pPr marL="104775" marR="62865" indent="-92075" algn="just">
              <a:lnSpc>
                <a:spcPts val="2280"/>
              </a:lnSpc>
              <a:spcBef>
                <a:spcPts val="1260"/>
              </a:spcBef>
              <a:buFont typeface="Wingdings"/>
              <a:buChar char=""/>
              <a:tabLst>
                <a:tab pos="104775" algn="l"/>
                <a:tab pos="187325" algn="l"/>
              </a:tabLst>
            </a:pPr>
            <a:r>
              <a:rPr sz="2000" spc="-40" dirty="0">
                <a:solidFill>
                  <a:srgbClr val="1CACE2"/>
                </a:solidFill>
                <a:latin typeface="Times New Roman"/>
                <a:cs typeface="Times New Roman"/>
              </a:rPr>
              <a:t>	</a:t>
            </a:r>
            <a:r>
              <a:rPr sz="2000" b="1" dirty="0">
                <a:latin typeface="Calibri"/>
                <a:cs typeface="Calibri"/>
              </a:rPr>
              <a:t>Virtualization</a:t>
            </a:r>
            <a:r>
              <a:rPr sz="2000" b="1" spc="29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Platforms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2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2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2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2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practice</a:t>
            </a:r>
            <a:r>
              <a:rPr sz="2000" spc="2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labs,</a:t>
            </a:r>
            <a:r>
              <a:rPr sz="2000" spc="2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technologies</a:t>
            </a:r>
            <a:r>
              <a:rPr sz="2000" spc="2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</a:t>
            </a:r>
            <a:r>
              <a:rPr sz="2000" spc="2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VMware</a:t>
            </a:r>
            <a:r>
              <a:rPr sz="2000" spc="3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2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VirtualBox</a:t>
            </a:r>
            <a:r>
              <a:rPr sz="2000" spc="2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2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2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for </a:t>
            </a:r>
            <a:r>
              <a:rPr sz="2000" spc="-10" dirty="0">
                <a:latin typeface="Calibri"/>
                <a:cs typeface="Calibri"/>
              </a:rPr>
              <a:t>simulating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RHEL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environments.</a:t>
            </a:r>
            <a:endParaRPr sz="2000">
              <a:latin typeface="Calibri"/>
              <a:cs typeface="Calibri"/>
            </a:endParaRPr>
          </a:p>
          <a:p>
            <a:pPr marL="104775" marR="5080" indent="-92075" algn="just">
              <a:lnSpc>
                <a:spcPct val="90100"/>
              </a:lnSpc>
              <a:spcBef>
                <a:spcPts val="1230"/>
              </a:spcBef>
              <a:buClr>
                <a:srgbClr val="1CACE2"/>
              </a:buClr>
              <a:buFont typeface="Wingdings"/>
              <a:buChar char=""/>
              <a:tabLst>
                <a:tab pos="104775" algn="l"/>
                <a:tab pos="187325" algn="l"/>
              </a:tabLst>
            </a:pPr>
            <a:r>
              <a:rPr dirty="0"/>
              <a:t>	</a:t>
            </a:r>
            <a:r>
              <a:rPr sz="2000" b="1" dirty="0">
                <a:latin typeface="Calibri"/>
                <a:cs typeface="Calibri"/>
              </a:rPr>
              <a:t>Red</a:t>
            </a:r>
            <a:r>
              <a:rPr sz="2000" b="1" spc="1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Hat</a:t>
            </a:r>
            <a:r>
              <a:rPr sz="2000" b="1" spc="1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Enterprise</a:t>
            </a:r>
            <a:r>
              <a:rPr sz="2000" b="1" spc="1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Linux</a:t>
            </a:r>
            <a:r>
              <a:rPr sz="2000" b="1" spc="1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(RHEL)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core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operating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RHCSA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curriculum,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RHEL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leading </a:t>
            </a:r>
            <a:r>
              <a:rPr sz="2000" dirty="0">
                <a:latin typeface="Calibri"/>
                <a:cs typeface="Calibri"/>
              </a:rPr>
              <a:t>enterprise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Linux</a:t>
            </a:r>
            <a:r>
              <a:rPr sz="2000" spc="409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distribution.</a:t>
            </a:r>
            <a:r>
              <a:rPr sz="2000" spc="4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409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hands-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3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experience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4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configuring,</a:t>
            </a:r>
            <a:r>
              <a:rPr sz="2000" spc="4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managing,</a:t>
            </a:r>
            <a:r>
              <a:rPr sz="2000" spc="4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troubleshooting</a:t>
            </a:r>
            <a:r>
              <a:rPr sz="2000" spc="409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RHEL </a:t>
            </a:r>
            <a:r>
              <a:rPr sz="2000" spc="-10" dirty="0">
                <a:latin typeface="Calibri"/>
                <a:cs typeface="Calibri"/>
              </a:rPr>
              <a:t>systems.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125" y="708278"/>
            <a:ext cx="4448810" cy="518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indent="-176530">
              <a:lnSpc>
                <a:spcPts val="1630"/>
              </a:lnSpc>
              <a:spcBef>
                <a:spcPts val="100"/>
              </a:spcBef>
              <a:buAutoNum type="arabicPeriod"/>
              <a:tabLst>
                <a:tab pos="189230" algn="l"/>
              </a:tabLst>
            </a:pPr>
            <a:r>
              <a:rPr sz="1400" b="1" spc="-10" dirty="0">
                <a:latin typeface="Calibri"/>
                <a:cs typeface="Calibri"/>
              </a:rPr>
              <a:t>Access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Systems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Get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Support</a:t>
            </a:r>
            <a:endParaRPr sz="1400">
              <a:latin typeface="Calibri"/>
              <a:cs typeface="Calibri"/>
            </a:endParaRPr>
          </a:p>
          <a:p>
            <a:pPr marL="330200" marR="1214755">
              <a:lnSpc>
                <a:spcPts val="1500"/>
              </a:lnSpc>
              <a:spcBef>
                <a:spcPts val="145"/>
              </a:spcBef>
            </a:pPr>
            <a:r>
              <a:rPr sz="1400" dirty="0">
                <a:latin typeface="Calibri"/>
                <a:cs typeface="Calibri"/>
              </a:rPr>
              <a:t>Edit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Text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Files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Shell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Prompt Configure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SSH</a:t>
            </a:r>
            <a:r>
              <a:rPr sz="1400" spc="-8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Key-based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Authentication </a:t>
            </a:r>
            <a:r>
              <a:rPr sz="1400" dirty="0">
                <a:latin typeface="Calibri"/>
                <a:cs typeface="Calibri"/>
              </a:rPr>
              <a:t>Create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 </a:t>
            </a:r>
            <a:r>
              <a:rPr sz="1400" spc="-10" dirty="0">
                <a:latin typeface="Calibri"/>
                <a:cs typeface="Calibri"/>
              </a:rPr>
              <a:t>Diagnostics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Report</a:t>
            </a:r>
            <a:endParaRPr sz="1400">
              <a:latin typeface="Calibri"/>
              <a:cs typeface="Calibri"/>
            </a:endParaRPr>
          </a:p>
          <a:p>
            <a:pPr marL="330200">
              <a:lnSpc>
                <a:spcPts val="1560"/>
              </a:lnSpc>
            </a:pPr>
            <a:r>
              <a:rPr sz="1400" dirty="0">
                <a:latin typeface="Calibri"/>
                <a:cs typeface="Calibri"/>
              </a:rPr>
              <a:t>Detect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Resolve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Issues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Hat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Insights</a:t>
            </a:r>
            <a:endParaRPr sz="1400">
              <a:latin typeface="Calibri"/>
              <a:cs typeface="Calibri"/>
            </a:endParaRPr>
          </a:p>
          <a:p>
            <a:pPr marL="189230" indent="-176530">
              <a:lnSpc>
                <a:spcPts val="1600"/>
              </a:lnSpc>
              <a:spcBef>
                <a:spcPts val="1145"/>
              </a:spcBef>
              <a:buAutoNum type="arabicPeriod" startAt="2"/>
              <a:tabLst>
                <a:tab pos="189230" algn="l"/>
              </a:tabLst>
            </a:pPr>
            <a:r>
              <a:rPr sz="1400" b="1" dirty="0">
                <a:latin typeface="Calibri"/>
                <a:cs typeface="Calibri"/>
              </a:rPr>
              <a:t>Manage</a:t>
            </a:r>
            <a:r>
              <a:rPr sz="1400" b="1" spc="-8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Files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from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Command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Line</a:t>
            </a:r>
            <a:endParaRPr sz="1400">
              <a:latin typeface="Calibri"/>
              <a:cs typeface="Calibri"/>
            </a:endParaRPr>
          </a:p>
          <a:p>
            <a:pPr marL="330200" marR="805180">
              <a:lnSpc>
                <a:spcPts val="153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Describe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Linux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File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System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Hierarchy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Concepts Make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Links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Between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Files</a:t>
            </a:r>
            <a:endParaRPr sz="1400">
              <a:latin typeface="Calibri"/>
              <a:cs typeface="Calibri"/>
            </a:endParaRPr>
          </a:p>
          <a:p>
            <a:pPr marL="330200">
              <a:lnSpc>
                <a:spcPts val="1545"/>
              </a:lnSpc>
            </a:pPr>
            <a:r>
              <a:rPr sz="1400" dirty="0">
                <a:latin typeface="Calibri"/>
                <a:cs typeface="Calibri"/>
              </a:rPr>
              <a:t>Match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File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Names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with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Shell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Expansions</a:t>
            </a:r>
            <a:endParaRPr sz="1400">
              <a:latin typeface="Calibri"/>
              <a:cs typeface="Calibri"/>
            </a:endParaRPr>
          </a:p>
          <a:p>
            <a:pPr marL="188595" marR="1615440" indent="-176530">
              <a:lnSpc>
                <a:spcPts val="1500"/>
              </a:lnSpc>
              <a:spcBef>
                <a:spcPts val="1395"/>
              </a:spcBef>
              <a:buAutoNum type="arabicPeriod" startAt="3"/>
              <a:tabLst>
                <a:tab pos="330200" algn="l"/>
              </a:tabLst>
            </a:pPr>
            <a:r>
              <a:rPr sz="1400" b="1" dirty="0">
                <a:latin typeface="Calibri"/>
                <a:cs typeface="Calibri"/>
              </a:rPr>
              <a:t>Manage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Local</a:t>
            </a:r>
            <a:r>
              <a:rPr sz="1400" b="1" spc="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Users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Groups 	</a:t>
            </a:r>
            <a:r>
              <a:rPr sz="1400" spc="-10" dirty="0">
                <a:latin typeface="Calibri"/>
                <a:cs typeface="Calibri"/>
              </a:rPr>
              <a:t>Describe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and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Group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Concepts 	</a:t>
            </a:r>
            <a:r>
              <a:rPr sz="1400" dirty="0">
                <a:latin typeface="Calibri"/>
                <a:cs typeface="Calibri"/>
              </a:rPr>
              <a:t>Gain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Superuser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Access</a:t>
            </a:r>
            <a:endParaRPr sz="1400">
              <a:latin typeface="Calibri"/>
              <a:cs typeface="Calibri"/>
            </a:endParaRPr>
          </a:p>
          <a:p>
            <a:pPr marL="330200" marR="1942464">
              <a:lnSpc>
                <a:spcPct val="89400"/>
              </a:lnSpc>
              <a:spcBef>
                <a:spcPts val="5"/>
              </a:spcBef>
            </a:pPr>
            <a:r>
              <a:rPr sz="1400" dirty="0">
                <a:latin typeface="Calibri"/>
                <a:cs typeface="Calibri"/>
              </a:rPr>
              <a:t>Manage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Local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Accounts Manage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Local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Group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Accounts </a:t>
            </a:r>
            <a:r>
              <a:rPr sz="1400" dirty="0">
                <a:latin typeface="Calibri"/>
                <a:cs typeface="Calibri"/>
              </a:rPr>
              <a:t>Manage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Passwords</a:t>
            </a:r>
            <a:endParaRPr sz="1400">
              <a:latin typeface="Calibri"/>
              <a:cs typeface="Calibri"/>
            </a:endParaRPr>
          </a:p>
          <a:p>
            <a:pPr marL="189230" indent="-176530">
              <a:lnSpc>
                <a:spcPts val="1614"/>
              </a:lnSpc>
              <a:spcBef>
                <a:spcPts val="1245"/>
              </a:spcBef>
              <a:buAutoNum type="arabicPeriod" startAt="4"/>
              <a:tabLst>
                <a:tab pos="189230" algn="l"/>
              </a:tabLst>
            </a:pPr>
            <a:r>
              <a:rPr sz="1400" b="1" dirty="0">
                <a:latin typeface="Calibri"/>
                <a:cs typeface="Calibri"/>
              </a:rPr>
              <a:t>Control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Access</a:t>
            </a:r>
            <a:r>
              <a:rPr sz="1400" b="1" spc="-6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Files</a:t>
            </a:r>
            <a:endParaRPr sz="1400">
              <a:latin typeface="Calibri"/>
              <a:cs typeface="Calibri"/>
            </a:endParaRPr>
          </a:p>
          <a:p>
            <a:pPr marL="330200" marR="5080">
              <a:lnSpc>
                <a:spcPts val="1500"/>
              </a:lnSpc>
              <a:spcBef>
                <a:spcPts val="135"/>
              </a:spcBef>
            </a:pPr>
            <a:r>
              <a:rPr sz="1400" dirty="0">
                <a:latin typeface="Calibri"/>
                <a:cs typeface="Calibri"/>
              </a:rPr>
              <a:t>Manage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File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System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Permissions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the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Command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Line </a:t>
            </a:r>
            <a:r>
              <a:rPr sz="1400" dirty="0">
                <a:latin typeface="Calibri"/>
                <a:cs typeface="Calibri"/>
              </a:rPr>
              <a:t>Manage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Default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Permissions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File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Access</a:t>
            </a:r>
            <a:endParaRPr sz="1400">
              <a:latin typeface="Calibri"/>
              <a:cs typeface="Calibri"/>
            </a:endParaRPr>
          </a:p>
          <a:p>
            <a:pPr marL="189230" indent="-176530">
              <a:lnSpc>
                <a:spcPts val="1605"/>
              </a:lnSpc>
              <a:spcBef>
                <a:spcPts val="1130"/>
              </a:spcBef>
              <a:buAutoNum type="arabicPeriod" startAt="5"/>
              <a:tabLst>
                <a:tab pos="189230" algn="l"/>
              </a:tabLst>
            </a:pPr>
            <a:r>
              <a:rPr sz="1400" b="1" dirty="0">
                <a:latin typeface="Calibri"/>
                <a:cs typeface="Calibri"/>
              </a:rPr>
              <a:t>Manage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SELinux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Security</a:t>
            </a:r>
            <a:endParaRPr sz="1400">
              <a:latin typeface="Calibri"/>
              <a:cs typeface="Calibri"/>
            </a:endParaRPr>
          </a:p>
          <a:p>
            <a:pPr marL="330200" marR="1284605">
              <a:lnSpc>
                <a:spcPts val="153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Change 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SELinux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Enforcement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Mode </a:t>
            </a:r>
            <a:r>
              <a:rPr sz="1400" spc="-10" dirty="0">
                <a:latin typeface="Calibri"/>
                <a:cs typeface="Calibri"/>
              </a:rPr>
              <a:t>Control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SELinux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File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Contexts</a:t>
            </a:r>
            <a:endParaRPr sz="1400">
              <a:latin typeface="Calibri"/>
              <a:cs typeface="Calibri"/>
            </a:endParaRPr>
          </a:p>
          <a:p>
            <a:pPr marL="330200" marR="1380490">
              <a:lnSpc>
                <a:spcPts val="1500"/>
              </a:lnSpc>
              <a:spcBef>
                <a:spcPts val="40"/>
              </a:spcBef>
            </a:pPr>
            <a:r>
              <a:rPr sz="1400" dirty="0">
                <a:latin typeface="Calibri"/>
                <a:cs typeface="Calibri"/>
              </a:rPr>
              <a:t>Adjust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SELinux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Policy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Booleans Investigate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and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Resolve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SELinux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Issues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43120" y="-73088"/>
            <a:ext cx="2965450" cy="681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300" spc="-10" dirty="0"/>
              <a:t>Methodology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7047230" y="686053"/>
            <a:ext cx="4022725" cy="5245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indent="-176530">
              <a:lnSpc>
                <a:spcPts val="1530"/>
              </a:lnSpc>
              <a:spcBef>
                <a:spcPts val="100"/>
              </a:spcBef>
              <a:buAutoNum type="arabicPeriod" startAt="6"/>
              <a:tabLst>
                <a:tab pos="189230" algn="l"/>
              </a:tabLst>
            </a:pPr>
            <a:r>
              <a:rPr sz="1400" b="1" spc="-10" dirty="0">
                <a:latin typeface="Calibri"/>
                <a:cs typeface="Calibri"/>
              </a:rPr>
              <a:t>Tune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System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Performance</a:t>
            </a:r>
            <a:endParaRPr sz="1400">
              <a:latin typeface="Calibri"/>
              <a:cs typeface="Calibri"/>
            </a:endParaRPr>
          </a:p>
          <a:p>
            <a:pPr marL="330200">
              <a:lnSpc>
                <a:spcPts val="1390"/>
              </a:lnSpc>
            </a:pPr>
            <a:r>
              <a:rPr sz="1400" dirty="0">
                <a:latin typeface="Calibri"/>
                <a:cs typeface="Calibri"/>
              </a:rPr>
              <a:t>Kill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Processes</a:t>
            </a:r>
            <a:endParaRPr sz="1400">
              <a:latin typeface="Calibri"/>
              <a:cs typeface="Calibri"/>
            </a:endParaRPr>
          </a:p>
          <a:p>
            <a:pPr marL="330200" marR="1619885">
              <a:lnSpc>
                <a:spcPts val="1350"/>
              </a:lnSpc>
              <a:spcBef>
                <a:spcPts val="180"/>
              </a:spcBef>
            </a:pPr>
            <a:r>
              <a:rPr sz="1400" dirty="0">
                <a:latin typeface="Calibri"/>
                <a:cs typeface="Calibri"/>
              </a:rPr>
              <a:t>Monitor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Process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Activity </a:t>
            </a:r>
            <a:r>
              <a:rPr sz="1400" dirty="0">
                <a:latin typeface="Calibri"/>
                <a:cs typeface="Calibri"/>
              </a:rPr>
              <a:t>Adjust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Tuning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Profiles Influence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Process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Scheduling</a:t>
            </a:r>
            <a:endParaRPr sz="1400">
              <a:latin typeface="Calibri"/>
              <a:cs typeface="Calibri"/>
            </a:endParaRPr>
          </a:p>
          <a:p>
            <a:pPr marL="189230" indent="-176530">
              <a:lnSpc>
                <a:spcPts val="1565"/>
              </a:lnSpc>
              <a:spcBef>
                <a:spcPts val="955"/>
              </a:spcBef>
              <a:buAutoNum type="arabicPeriod" startAt="7"/>
              <a:tabLst>
                <a:tab pos="189230" algn="l"/>
              </a:tabLst>
            </a:pPr>
            <a:r>
              <a:rPr sz="1400" b="1" spc="-10" dirty="0">
                <a:latin typeface="Calibri"/>
                <a:cs typeface="Calibri"/>
              </a:rPr>
              <a:t>Schedule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Future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Tasks</a:t>
            </a:r>
            <a:endParaRPr sz="1400">
              <a:latin typeface="Calibri"/>
              <a:cs typeface="Calibri"/>
            </a:endParaRPr>
          </a:p>
          <a:p>
            <a:pPr marL="330200" marR="1407795">
              <a:lnSpc>
                <a:spcPts val="1350"/>
              </a:lnSpc>
              <a:spcBef>
                <a:spcPts val="204"/>
              </a:spcBef>
            </a:pPr>
            <a:r>
              <a:rPr sz="1400" dirty="0">
                <a:latin typeface="Calibri"/>
                <a:cs typeface="Calibri"/>
              </a:rPr>
              <a:t>Schedule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Recurring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Jobs </a:t>
            </a:r>
            <a:r>
              <a:rPr sz="1400" spc="-10" dirty="0">
                <a:latin typeface="Calibri"/>
                <a:cs typeface="Calibri"/>
              </a:rPr>
              <a:t>Schedule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Recurring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System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Jobs</a:t>
            </a:r>
            <a:endParaRPr sz="1400">
              <a:latin typeface="Calibri"/>
              <a:cs typeface="Calibri"/>
            </a:endParaRPr>
          </a:p>
          <a:p>
            <a:pPr marL="189230" indent="-176530">
              <a:lnSpc>
                <a:spcPts val="1525"/>
              </a:lnSpc>
              <a:spcBef>
                <a:spcPts val="960"/>
              </a:spcBef>
              <a:buAutoNum type="arabicPeriod" startAt="8"/>
              <a:tabLst>
                <a:tab pos="189230" algn="l"/>
              </a:tabLst>
            </a:pPr>
            <a:r>
              <a:rPr sz="1400" b="1" spc="-10" dirty="0">
                <a:latin typeface="Calibri"/>
                <a:cs typeface="Calibri"/>
              </a:rPr>
              <a:t>Install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Update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Software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Packages</a:t>
            </a:r>
            <a:endParaRPr sz="1400">
              <a:latin typeface="Calibri"/>
              <a:cs typeface="Calibri"/>
            </a:endParaRPr>
          </a:p>
          <a:p>
            <a:pPr marL="330200">
              <a:lnSpc>
                <a:spcPts val="1400"/>
              </a:lnSpc>
            </a:pPr>
            <a:r>
              <a:rPr sz="1400" spc="-10" dirty="0">
                <a:latin typeface="Calibri"/>
                <a:cs typeface="Calibri"/>
              </a:rPr>
              <a:t>Register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Systems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Hat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Support</a:t>
            </a:r>
            <a:endParaRPr sz="1400">
              <a:latin typeface="Calibri"/>
              <a:cs typeface="Calibri"/>
            </a:endParaRPr>
          </a:p>
          <a:p>
            <a:pPr marL="330200" marR="303530">
              <a:lnSpc>
                <a:spcPct val="79000"/>
              </a:lnSpc>
              <a:spcBef>
                <a:spcPts val="225"/>
              </a:spcBef>
            </a:pPr>
            <a:r>
              <a:rPr sz="1400" spc="-10" dirty="0">
                <a:latin typeface="Calibri"/>
                <a:cs typeface="Calibri"/>
              </a:rPr>
              <a:t>Install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and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Update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Software</a:t>
            </a:r>
            <a:r>
              <a:rPr sz="1400" spc="-8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Packages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DNF </a:t>
            </a:r>
            <a:r>
              <a:rPr sz="1400" dirty="0">
                <a:latin typeface="Calibri"/>
                <a:cs typeface="Calibri"/>
              </a:rPr>
              <a:t>Enable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DNF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Software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Repositories</a:t>
            </a:r>
            <a:endParaRPr sz="1400">
              <a:latin typeface="Calibri"/>
              <a:cs typeface="Calibri"/>
            </a:endParaRPr>
          </a:p>
          <a:p>
            <a:pPr marL="189230" indent="-176530">
              <a:lnSpc>
                <a:spcPts val="1540"/>
              </a:lnSpc>
              <a:spcBef>
                <a:spcPts val="944"/>
              </a:spcBef>
              <a:buAutoNum type="arabicPeriod" startAt="9"/>
              <a:tabLst>
                <a:tab pos="189230" algn="l"/>
              </a:tabLst>
            </a:pPr>
            <a:r>
              <a:rPr sz="1400" b="1" dirty="0">
                <a:latin typeface="Calibri"/>
                <a:cs typeface="Calibri"/>
              </a:rPr>
              <a:t>Manage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Basic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Storage</a:t>
            </a:r>
            <a:endParaRPr sz="1400">
              <a:latin typeface="Calibri"/>
              <a:cs typeface="Calibri"/>
            </a:endParaRPr>
          </a:p>
          <a:p>
            <a:pPr marL="330200">
              <a:lnSpc>
                <a:spcPts val="1365"/>
              </a:lnSpc>
            </a:pPr>
            <a:r>
              <a:rPr sz="1400" spc="-10" dirty="0">
                <a:latin typeface="Calibri"/>
                <a:cs typeface="Calibri"/>
              </a:rPr>
              <a:t>Mount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Unmount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File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Systems</a:t>
            </a:r>
            <a:endParaRPr sz="1400">
              <a:latin typeface="Calibri"/>
              <a:cs typeface="Calibri"/>
            </a:endParaRPr>
          </a:p>
          <a:p>
            <a:pPr marL="330200" marR="5080">
              <a:lnSpc>
                <a:spcPts val="1500"/>
              </a:lnSpc>
              <a:spcBef>
                <a:spcPts val="25"/>
              </a:spcBef>
            </a:pPr>
            <a:r>
              <a:rPr sz="1400" spc="-20" dirty="0">
                <a:latin typeface="Calibri"/>
                <a:cs typeface="Calibri"/>
              </a:rPr>
              <a:t>Add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Partitions, File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Systems,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10" dirty="0">
                <a:latin typeface="Calibri"/>
                <a:cs typeface="Calibri"/>
              </a:rPr>
              <a:t> Persistent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Mounts </a:t>
            </a:r>
            <a:r>
              <a:rPr sz="1400" dirty="0">
                <a:latin typeface="Calibri"/>
                <a:cs typeface="Calibri"/>
              </a:rPr>
              <a:t>Manage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Swap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Space</a:t>
            </a:r>
            <a:endParaRPr sz="1400">
              <a:latin typeface="Calibri"/>
              <a:cs typeface="Calibri"/>
            </a:endParaRPr>
          </a:p>
          <a:p>
            <a:pPr marL="278765" indent="-266065">
              <a:lnSpc>
                <a:spcPts val="1530"/>
              </a:lnSpc>
              <a:spcBef>
                <a:spcPts val="950"/>
              </a:spcBef>
              <a:buAutoNum type="arabicPeriod" startAt="10"/>
              <a:tabLst>
                <a:tab pos="278765" algn="l"/>
              </a:tabLst>
            </a:pPr>
            <a:r>
              <a:rPr sz="1400" b="1" dirty="0">
                <a:latin typeface="Calibri"/>
                <a:cs typeface="Calibri"/>
              </a:rPr>
              <a:t>Manage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Storage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Stack</a:t>
            </a:r>
            <a:endParaRPr sz="1400">
              <a:latin typeface="Calibri"/>
              <a:cs typeface="Calibri"/>
            </a:endParaRPr>
          </a:p>
          <a:p>
            <a:pPr marL="330200" marR="1183640">
              <a:lnSpc>
                <a:spcPts val="1350"/>
              </a:lnSpc>
              <a:spcBef>
                <a:spcPts val="165"/>
              </a:spcBef>
            </a:pPr>
            <a:r>
              <a:rPr sz="1400" spc="-10" dirty="0">
                <a:latin typeface="Calibri"/>
                <a:cs typeface="Calibri"/>
              </a:rPr>
              <a:t>Create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Extend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Logical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Volumes </a:t>
            </a:r>
            <a:r>
              <a:rPr sz="1400" dirty="0">
                <a:latin typeface="Calibri"/>
                <a:cs typeface="Calibri"/>
              </a:rPr>
              <a:t>Lab: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Manage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Storage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Stack</a:t>
            </a:r>
            <a:endParaRPr sz="1400">
              <a:latin typeface="Calibri"/>
              <a:cs typeface="Calibri"/>
            </a:endParaRPr>
          </a:p>
          <a:p>
            <a:pPr marL="278765" indent="-266065">
              <a:lnSpc>
                <a:spcPts val="1565"/>
              </a:lnSpc>
              <a:spcBef>
                <a:spcPts val="955"/>
              </a:spcBef>
              <a:buAutoNum type="arabicPeriod" startAt="11"/>
              <a:tabLst>
                <a:tab pos="278765" algn="l"/>
              </a:tabLst>
            </a:pPr>
            <a:r>
              <a:rPr sz="1400" b="1" dirty="0">
                <a:latin typeface="Calibri"/>
                <a:cs typeface="Calibri"/>
              </a:rPr>
              <a:t>Control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Services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Boot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Process</a:t>
            </a:r>
            <a:endParaRPr sz="1400">
              <a:latin typeface="Calibri"/>
              <a:cs typeface="Calibri"/>
            </a:endParaRPr>
          </a:p>
          <a:p>
            <a:pPr marL="330200" marR="242570">
              <a:lnSpc>
                <a:spcPct val="78900"/>
              </a:lnSpc>
              <a:spcBef>
                <a:spcPts val="240"/>
              </a:spcBef>
            </a:pPr>
            <a:r>
              <a:rPr sz="1400" spc="-10" dirty="0">
                <a:latin typeface="Calibri"/>
                <a:cs typeface="Calibri"/>
              </a:rPr>
              <a:t>Identify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Automatically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Started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System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Processes </a:t>
            </a:r>
            <a:r>
              <a:rPr sz="1400" dirty="0">
                <a:latin typeface="Calibri"/>
                <a:cs typeface="Calibri"/>
              </a:rPr>
              <a:t>Control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System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Services</a:t>
            </a:r>
            <a:endParaRPr sz="1400">
              <a:latin typeface="Calibri"/>
              <a:cs typeface="Calibri"/>
            </a:endParaRPr>
          </a:p>
          <a:p>
            <a:pPr marL="330200">
              <a:lnSpc>
                <a:spcPts val="1110"/>
              </a:lnSpc>
            </a:pPr>
            <a:r>
              <a:rPr sz="1400" dirty="0">
                <a:latin typeface="Calibri"/>
                <a:cs typeface="Calibri"/>
              </a:rPr>
              <a:t>Select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Boot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Target</a:t>
            </a:r>
            <a:endParaRPr sz="1400">
              <a:latin typeface="Calibri"/>
              <a:cs typeface="Calibri"/>
            </a:endParaRPr>
          </a:p>
          <a:p>
            <a:pPr marL="330200">
              <a:lnSpc>
                <a:spcPts val="1425"/>
              </a:lnSpc>
            </a:pPr>
            <a:r>
              <a:rPr sz="1400" dirty="0">
                <a:latin typeface="Calibri"/>
                <a:cs typeface="Calibri"/>
              </a:rPr>
              <a:t>Reset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Root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Password</a:t>
            </a:r>
            <a:endParaRPr sz="1400">
              <a:latin typeface="Calibri"/>
              <a:cs typeface="Calibri"/>
            </a:endParaRPr>
          </a:p>
          <a:p>
            <a:pPr marL="330200">
              <a:lnSpc>
                <a:spcPts val="1590"/>
              </a:lnSpc>
            </a:pPr>
            <a:r>
              <a:rPr sz="1400" dirty="0">
                <a:latin typeface="Calibri"/>
                <a:cs typeface="Calibri"/>
              </a:rPr>
              <a:t>Repair</a:t>
            </a:r>
            <a:r>
              <a:rPr sz="1400" spc="-10" dirty="0">
                <a:latin typeface="Calibri"/>
                <a:cs typeface="Calibri"/>
              </a:rPr>
              <a:t> File-system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Issues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Boot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7950" y="-6350"/>
            <a:ext cx="4283075" cy="632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 indent="-269240">
              <a:lnSpc>
                <a:spcPts val="1605"/>
              </a:lnSpc>
              <a:spcBef>
                <a:spcPts val="100"/>
              </a:spcBef>
              <a:buAutoNum type="arabicPeriod" startAt="12"/>
              <a:tabLst>
                <a:tab pos="320040" algn="l"/>
              </a:tabLst>
            </a:pPr>
            <a:r>
              <a:rPr sz="1400" b="1" dirty="0">
                <a:latin typeface="Calibri"/>
                <a:cs typeface="Calibri"/>
              </a:rPr>
              <a:t>Analyse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7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Store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Logs</a:t>
            </a:r>
            <a:endParaRPr sz="1400">
              <a:latin typeface="Calibri"/>
              <a:cs typeface="Calibri"/>
            </a:endParaRPr>
          </a:p>
          <a:p>
            <a:pPr marL="488950" marR="1392555">
              <a:lnSpc>
                <a:spcPts val="153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Describe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System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Log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Architecture Review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Syslog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Files</a:t>
            </a:r>
            <a:endParaRPr sz="1400">
              <a:latin typeface="Calibri"/>
              <a:cs typeface="Calibri"/>
            </a:endParaRPr>
          </a:p>
          <a:p>
            <a:pPr marL="488950" marR="1624330">
              <a:lnSpc>
                <a:spcPct val="89400"/>
              </a:lnSpc>
              <a:spcBef>
                <a:spcPts val="15"/>
              </a:spcBef>
            </a:pPr>
            <a:r>
              <a:rPr sz="1400" spc="-10" dirty="0">
                <a:latin typeface="Calibri"/>
                <a:cs typeface="Calibri"/>
              </a:rPr>
              <a:t>Review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System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Journal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Entries </a:t>
            </a:r>
            <a:r>
              <a:rPr sz="1400" dirty="0">
                <a:latin typeface="Calibri"/>
                <a:cs typeface="Calibri"/>
              </a:rPr>
              <a:t>Preserve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System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Journal </a:t>
            </a:r>
            <a:r>
              <a:rPr sz="1400" dirty="0">
                <a:latin typeface="Calibri"/>
                <a:cs typeface="Calibri"/>
              </a:rPr>
              <a:t>Maintain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Accurate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Time</a:t>
            </a:r>
            <a:endParaRPr sz="1400">
              <a:latin typeface="Calibri"/>
              <a:cs typeface="Calibri"/>
            </a:endParaRPr>
          </a:p>
          <a:p>
            <a:pPr marL="278765" indent="-266065">
              <a:lnSpc>
                <a:spcPts val="1605"/>
              </a:lnSpc>
              <a:spcBef>
                <a:spcPts val="1195"/>
              </a:spcBef>
              <a:buAutoNum type="arabicPeriod" startAt="13"/>
              <a:tabLst>
                <a:tab pos="278765" algn="l"/>
              </a:tabLst>
            </a:pPr>
            <a:r>
              <a:rPr sz="1400" b="1" dirty="0">
                <a:latin typeface="Calibri"/>
                <a:cs typeface="Calibri"/>
              </a:rPr>
              <a:t>Manage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Networking</a:t>
            </a:r>
            <a:endParaRPr sz="1400">
              <a:latin typeface="Calibri"/>
              <a:cs typeface="Calibri"/>
            </a:endParaRPr>
          </a:p>
          <a:p>
            <a:pPr marL="488950">
              <a:lnSpc>
                <a:spcPts val="1515"/>
              </a:lnSpc>
            </a:pPr>
            <a:r>
              <a:rPr sz="1400" spc="-10" dirty="0">
                <a:latin typeface="Calibri"/>
                <a:cs typeface="Calibri"/>
              </a:rPr>
              <a:t>Validate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Network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Configuration</a:t>
            </a:r>
            <a:endParaRPr sz="1400">
              <a:latin typeface="Calibri"/>
              <a:cs typeface="Calibri"/>
            </a:endParaRPr>
          </a:p>
          <a:p>
            <a:pPr marL="488950" marR="435609">
              <a:lnSpc>
                <a:spcPts val="1530"/>
              </a:lnSpc>
              <a:spcBef>
                <a:spcPts val="85"/>
              </a:spcBef>
            </a:pPr>
            <a:r>
              <a:rPr sz="1400" spc="-10" dirty="0">
                <a:latin typeface="Calibri"/>
                <a:cs typeface="Calibri"/>
              </a:rPr>
              <a:t>Configure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Networking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Command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Line </a:t>
            </a:r>
            <a:r>
              <a:rPr sz="1400" spc="-10" dirty="0">
                <a:latin typeface="Calibri"/>
                <a:cs typeface="Calibri"/>
              </a:rPr>
              <a:t>Edit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Network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Configuration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Files</a:t>
            </a:r>
            <a:endParaRPr sz="1400">
              <a:latin typeface="Calibri"/>
              <a:cs typeface="Calibri"/>
            </a:endParaRPr>
          </a:p>
          <a:p>
            <a:pPr marL="488950">
              <a:lnSpc>
                <a:spcPts val="1545"/>
              </a:lnSpc>
            </a:pPr>
            <a:r>
              <a:rPr sz="1400" spc="-10" dirty="0">
                <a:latin typeface="Calibri"/>
                <a:cs typeface="Calibri"/>
              </a:rPr>
              <a:t>Configure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Hostnames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Name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Resolution</a:t>
            </a:r>
            <a:endParaRPr sz="1400">
              <a:latin typeface="Calibri"/>
              <a:cs typeface="Calibri"/>
            </a:endParaRPr>
          </a:p>
          <a:p>
            <a:pPr marL="278765" indent="-266065">
              <a:lnSpc>
                <a:spcPts val="1614"/>
              </a:lnSpc>
              <a:spcBef>
                <a:spcPts val="1175"/>
              </a:spcBef>
              <a:buAutoNum type="arabicPeriod" startAt="14"/>
              <a:tabLst>
                <a:tab pos="278765" algn="l"/>
              </a:tabLst>
            </a:pPr>
            <a:r>
              <a:rPr sz="1400" b="1" dirty="0">
                <a:latin typeface="Calibri"/>
                <a:cs typeface="Calibri"/>
              </a:rPr>
              <a:t>Access</a:t>
            </a:r>
            <a:r>
              <a:rPr sz="1400" b="1" spc="2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Network-Attached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Storage</a:t>
            </a:r>
            <a:endParaRPr sz="1400">
              <a:latin typeface="Calibri"/>
              <a:cs typeface="Calibri"/>
            </a:endParaRPr>
          </a:p>
          <a:p>
            <a:pPr marL="488950" marR="582295">
              <a:lnSpc>
                <a:spcPts val="1500"/>
              </a:lnSpc>
              <a:spcBef>
                <a:spcPts val="135"/>
              </a:spcBef>
            </a:pPr>
            <a:r>
              <a:rPr sz="1400" spc="-10" dirty="0">
                <a:latin typeface="Calibri"/>
                <a:cs typeface="Calibri"/>
              </a:rPr>
              <a:t>Manage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Network-</a:t>
            </a:r>
            <a:r>
              <a:rPr sz="1400" spc="-20" dirty="0">
                <a:latin typeface="Calibri"/>
                <a:cs typeface="Calibri"/>
              </a:rPr>
              <a:t>Attached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Storage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with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NFS </a:t>
            </a:r>
            <a:r>
              <a:rPr sz="1400" dirty="0">
                <a:latin typeface="Calibri"/>
                <a:cs typeface="Calibri"/>
              </a:rPr>
              <a:t>Automount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Network-Attached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Storage</a:t>
            </a:r>
            <a:endParaRPr sz="1400">
              <a:latin typeface="Calibri"/>
              <a:cs typeface="Calibri"/>
            </a:endParaRPr>
          </a:p>
          <a:p>
            <a:pPr marL="281305" marR="1657350" indent="-269240">
              <a:lnSpc>
                <a:spcPct val="90100"/>
              </a:lnSpc>
              <a:spcBef>
                <a:spcPts val="1365"/>
              </a:spcBef>
              <a:buAutoNum type="arabicPeriod" startAt="15"/>
              <a:tabLst>
                <a:tab pos="488950" algn="l"/>
              </a:tabLst>
            </a:pPr>
            <a:r>
              <a:rPr sz="1400" b="1" dirty="0">
                <a:latin typeface="Calibri"/>
                <a:cs typeface="Calibri"/>
              </a:rPr>
              <a:t>Manage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Network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Security 	</a:t>
            </a:r>
            <a:r>
              <a:rPr sz="1400" dirty="0">
                <a:latin typeface="Calibri"/>
                <a:cs typeface="Calibri"/>
              </a:rPr>
              <a:t>Manage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Server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Firewalls 	Control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SELinux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Port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Labelling</a:t>
            </a:r>
            <a:endParaRPr sz="1400">
              <a:latin typeface="Calibri"/>
              <a:cs typeface="Calibri"/>
            </a:endParaRPr>
          </a:p>
          <a:p>
            <a:pPr marL="278765" indent="-266065">
              <a:lnSpc>
                <a:spcPts val="1630"/>
              </a:lnSpc>
              <a:spcBef>
                <a:spcPts val="1195"/>
              </a:spcBef>
              <a:buAutoNum type="arabicPeriod" startAt="15"/>
              <a:tabLst>
                <a:tab pos="278765" algn="l"/>
              </a:tabLst>
            </a:pPr>
            <a:r>
              <a:rPr sz="1400" b="1" dirty="0">
                <a:latin typeface="Calibri"/>
                <a:cs typeface="Calibri"/>
              </a:rPr>
              <a:t>Run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Containers</a:t>
            </a:r>
            <a:endParaRPr sz="1400">
              <a:latin typeface="Calibri"/>
              <a:cs typeface="Calibri"/>
            </a:endParaRPr>
          </a:p>
          <a:p>
            <a:pPr marL="488950" marR="2373630">
              <a:lnSpc>
                <a:spcPts val="1500"/>
              </a:lnSpc>
              <a:spcBef>
                <a:spcPts val="150"/>
              </a:spcBef>
            </a:pPr>
            <a:r>
              <a:rPr sz="1400" spc="-10" dirty="0">
                <a:latin typeface="Calibri"/>
                <a:cs typeface="Calibri"/>
              </a:rPr>
              <a:t>Container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Concepts </a:t>
            </a:r>
            <a:r>
              <a:rPr sz="1400" dirty="0">
                <a:latin typeface="Calibri"/>
                <a:cs typeface="Calibri"/>
              </a:rPr>
              <a:t>Deploy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Containers</a:t>
            </a:r>
            <a:endParaRPr sz="1400">
              <a:latin typeface="Calibri"/>
              <a:cs typeface="Calibri"/>
            </a:endParaRPr>
          </a:p>
          <a:p>
            <a:pPr marL="488950" marR="128270">
              <a:lnSpc>
                <a:spcPts val="1500"/>
              </a:lnSpc>
            </a:pPr>
            <a:r>
              <a:rPr sz="1400" spc="-10" dirty="0">
                <a:latin typeface="Calibri"/>
                <a:cs typeface="Calibri"/>
              </a:rPr>
              <a:t>Manage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Container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Storage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and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Network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Resources </a:t>
            </a:r>
            <a:r>
              <a:rPr sz="1400" dirty="0">
                <a:latin typeface="Calibri"/>
                <a:cs typeface="Calibri"/>
              </a:rPr>
              <a:t>Manage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Containers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System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Services</a:t>
            </a:r>
            <a:endParaRPr sz="1400">
              <a:latin typeface="Calibri"/>
              <a:cs typeface="Calibri"/>
            </a:endParaRPr>
          </a:p>
          <a:p>
            <a:pPr marL="278765" indent="-266065">
              <a:lnSpc>
                <a:spcPts val="1614"/>
              </a:lnSpc>
              <a:spcBef>
                <a:spcPts val="1180"/>
              </a:spcBef>
              <a:buAutoNum type="arabicPeriod" startAt="17"/>
              <a:tabLst>
                <a:tab pos="278765" algn="l"/>
              </a:tabLst>
            </a:pPr>
            <a:r>
              <a:rPr sz="1400" b="1" spc="-10" dirty="0">
                <a:latin typeface="Calibri"/>
                <a:cs typeface="Calibri"/>
              </a:rPr>
              <a:t>Comprehensive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Review</a:t>
            </a:r>
            <a:endParaRPr sz="1400">
              <a:latin typeface="Calibri"/>
              <a:cs typeface="Calibri"/>
            </a:endParaRPr>
          </a:p>
          <a:p>
            <a:pPr marL="488950">
              <a:lnSpc>
                <a:spcPts val="1525"/>
              </a:lnSpc>
            </a:pPr>
            <a:r>
              <a:rPr sz="1400" spc="-10" dirty="0">
                <a:latin typeface="Calibri"/>
                <a:cs typeface="Calibri"/>
              </a:rPr>
              <a:t>Comprehensive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Review</a:t>
            </a:r>
            <a:endParaRPr sz="1400">
              <a:latin typeface="Calibri"/>
              <a:cs typeface="Calibri"/>
            </a:endParaRPr>
          </a:p>
          <a:p>
            <a:pPr marL="488950">
              <a:lnSpc>
                <a:spcPts val="1525"/>
              </a:lnSpc>
            </a:pPr>
            <a:r>
              <a:rPr sz="1400" dirty="0">
                <a:latin typeface="Calibri"/>
                <a:cs typeface="Calibri"/>
              </a:rPr>
              <a:t>Lab: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Fix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Boot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Issues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Maintain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Servers</a:t>
            </a:r>
            <a:endParaRPr sz="1400">
              <a:latin typeface="Calibri"/>
              <a:cs typeface="Calibri"/>
            </a:endParaRPr>
          </a:p>
          <a:p>
            <a:pPr marL="488950" marR="5080">
              <a:lnSpc>
                <a:spcPts val="1500"/>
              </a:lnSpc>
              <a:spcBef>
                <a:spcPts val="135"/>
              </a:spcBef>
            </a:pPr>
            <a:r>
              <a:rPr sz="1400" dirty="0">
                <a:latin typeface="Calibri"/>
                <a:cs typeface="Calibri"/>
              </a:rPr>
              <a:t>Lab: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Configure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and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Manage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File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Systems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and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Storage </a:t>
            </a:r>
            <a:r>
              <a:rPr sz="1400" dirty="0">
                <a:latin typeface="Calibri"/>
                <a:cs typeface="Calibri"/>
              </a:rPr>
              <a:t>Lab: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Configure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Manage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Server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Security</a:t>
            </a:r>
            <a:endParaRPr sz="1400">
              <a:latin typeface="Calibri"/>
              <a:cs typeface="Calibri"/>
            </a:endParaRPr>
          </a:p>
          <a:p>
            <a:pPr marL="488950">
              <a:lnSpc>
                <a:spcPts val="1530"/>
              </a:lnSpc>
            </a:pPr>
            <a:r>
              <a:rPr sz="1400" dirty="0">
                <a:latin typeface="Calibri"/>
                <a:cs typeface="Calibri"/>
              </a:rPr>
              <a:t>Lab: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Run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Containers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" dirty="0"/>
              <a:t>Implementation</a:t>
            </a:r>
            <a:r>
              <a:rPr spc="-140" dirty="0"/>
              <a:t> </a:t>
            </a:r>
            <a:r>
              <a:rPr spc="-10" dirty="0"/>
              <a:t>Details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33350" y="1029334"/>
            <a:ext cx="11863705" cy="278892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04775" marR="10160" indent="-92075">
              <a:lnSpc>
                <a:spcPts val="2300"/>
              </a:lnSpc>
              <a:spcBef>
                <a:spcPts val="260"/>
              </a:spcBef>
              <a:buFont typeface="Wingdings"/>
              <a:buChar char=""/>
              <a:tabLst>
                <a:tab pos="104775" algn="l"/>
                <a:tab pos="187325" algn="l"/>
              </a:tabLst>
            </a:pPr>
            <a:r>
              <a:rPr sz="2000" spc="-40" dirty="0">
                <a:solidFill>
                  <a:srgbClr val="1CACE2"/>
                </a:solidFill>
                <a:latin typeface="Times New Roman"/>
                <a:cs typeface="Times New Roman"/>
              </a:rPr>
              <a:t>	</a:t>
            </a:r>
            <a:r>
              <a:rPr sz="2000" b="1" dirty="0">
                <a:latin typeface="Calibri"/>
                <a:cs typeface="Calibri"/>
              </a:rPr>
              <a:t>Structured</a:t>
            </a:r>
            <a:r>
              <a:rPr sz="2000" b="1" spc="3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Learning</a:t>
            </a:r>
            <a:r>
              <a:rPr sz="2000" b="1" spc="3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Modules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curriculum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divided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3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focused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sections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covering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key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topics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user </a:t>
            </a:r>
            <a:r>
              <a:rPr sz="2000" spc="-10" dirty="0">
                <a:latin typeface="Calibri"/>
                <a:cs typeface="Calibri"/>
              </a:rPr>
              <a:t>management,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permissions,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network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configuration,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task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automation.</a:t>
            </a:r>
            <a:endParaRPr sz="2000">
              <a:latin typeface="Calibri"/>
              <a:cs typeface="Calibri"/>
            </a:endParaRPr>
          </a:p>
          <a:p>
            <a:pPr marL="104775" marR="71120" indent="-92075">
              <a:lnSpc>
                <a:spcPts val="2150"/>
              </a:lnSpc>
              <a:spcBef>
                <a:spcPts val="1295"/>
              </a:spcBef>
              <a:buClr>
                <a:srgbClr val="1CACE2"/>
              </a:buClr>
              <a:buFont typeface="Wingdings"/>
              <a:buChar char=""/>
              <a:tabLst>
                <a:tab pos="104775" algn="l"/>
                <a:tab pos="187325" algn="l"/>
              </a:tabLst>
            </a:pPr>
            <a:r>
              <a:rPr dirty="0"/>
              <a:t>	</a:t>
            </a:r>
            <a:r>
              <a:rPr sz="2000" b="1" dirty="0">
                <a:latin typeface="Calibri"/>
                <a:cs typeface="Calibri"/>
              </a:rPr>
              <a:t>Continuous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Assessment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Periodic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evaluations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mock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exams,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lab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assessments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ensure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progress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readiness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exam.</a:t>
            </a:r>
            <a:endParaRPr sz="2000">
              <a:latin typeface="Calibri"/>
              <a:cs typeface="Calibri"/>
            </a:endParaRPr>
          </a:p>
          <a:p>
            <a:pPr marL="104775" marR="5080" indent="-92075">
              <a:lnSpc>
                <a:spcPts val="2330"/>
              </a:lnSpc>
              <a:spcBef>
                <a:spcPts val="1210"/>
              </a:spcBef>
              <a:buClr>
                <a:srgbClr val="1CACE2"/>
              </a:buClr>
              <a:buFont typeface="Wingdings"/>
              <a:buChar char=""/>
              <a:tabLst>
                <a:tab pos="104775" algn="l"/>
                <a:tab pos="187325" algn="l"/>
              </a:tabLst>
            </a:pPr>
            <a:r>
              <a:rPr dirty="0"/>
              <a:t>	</a:t>
            </a:r>
            <a:r>
              <a:rPr sz="2000" b="1" spc="-10" dirty="0">
                <a:latin typeface="Calibri"/>
                <a:cs typeface="Calibri"/>
              </a:rPr>
              <a:t>Performance-</a:t>
            </a:r>
            <a:r>
              <a:rPr sz="2000" b="1" dirty="0">
                <a:latin typeface="Calibri"/>
                <a:cs typeface="Calibri"/>
              </a:rPr>
              <a:t>Based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Exam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RHCSA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exam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designed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test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practical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skills,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requiring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candidates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solve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real- </a:t>
            </a:r>
            <a:r>
              <a:rPr sz="2000" dirty="0">
                <a:latin typeface="Calibri"/>
                <a:cs typeface="Calibri"/>
              </a:rPr>
              <a:t>world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administration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problems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time.</a:t>
            </a:r>
            <a:endParaRPr sz="2000">
              <a:latin typeface="Calibri"/>
              <a:cs typeface="Calibri"/>
            </a:endParaRPr>
          </a:p>
          <a:p>
            <a:pPr marL="104775" marR="104775" indent="-92075">
              <a:lnSpc>
                <a:spcPts val="2130"/>
              </a:lnSpc>
              <a:spcBef>
                <a:spcPts val="1300"/>
              </a:spcBef>
              <a:buClr>
                <a:srgbClr val="1CACE2"/>
              </a:buClr>
              <a:buFont typeface="Wingdings"/>
              <a:buChar char=""/>
              <a:tabLst>
                <a:tab pos="104775" algn="l"/>
                <a:tab pos="187325" algn="l"/>
              </a:tabLst>
            </a:pPr>
            <a:r>
              <a:rPr sz="2000" b="1" dirty="0">
                <a:latin typeface="Calibri"/>
                <a:cs typeface="Calibri"/>
              </a:rPr>
              <a:t>	Marking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Scheme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exam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300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marks,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minimum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210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marks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required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earn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certification.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0120" y="31686"/>
            <a:ext cx="26917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14325" y="1096009"/>
            <a:ext cx="11603355" cy="2944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4604" algn="just">
              <a:lnSpc>
                <a:spcPct val="997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Upon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completing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Hat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Certified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Administrator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(RHCSA)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certification,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demonstrated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dirty="0">
                <a:latin typeface="Calibri"/>
                <a:cs typeface="Calibri"/>
              </a:rPr>
              <a:t>solid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understanding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essential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Linux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administration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skills,</a:t>
            </a:r>
            <a:r>
              <a:rPr sz="2000" spc="3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specifically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3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Hat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Enterprise</a:t>
            </a:r>
            <a:r>
              <a:rPr sz="2000" spc="3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Linux </a:t>
            </a:r>
            <a:r>
              <a:rPr sz="2000" dirty="0">
                <a:latin typeface="Calibri"/>
                <a:cs typeface="Calibri"/>
              </a:rPr>
              <a:t>environments.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achievement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validates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our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ability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3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manage</a:t>
            </a:r>
            <a:r>
              <a:rPr sz="2000" spc="3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user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accounts,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configure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file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systems</a:t>
            </a:r>
            <a:r>
              <a:rPr sz="2000" spc="3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spc="-10" dirty="0">
                <a:latin typeface="Calibri"/>
                <a:cs typeface="Calibri"/>
              </a:rPr>
              <a:t>permissions,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implement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security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measures,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handle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basic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networking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services.</a:t>
            </a:r>
            <a:endParaRPr sz="2000">
              <a:latin typeface="Calibri"/>
              <a:cs typeface="Calibri"/>
            </a:endParaRPr>
          </a:p>
          <a:p>
            <a:pPr marL="12700" marR="5080" algn="just">
              <a:lnSpc>
                <a:spcPct val="99800"/>
              </a:lnSpc>
              <a:spcBef>
                <a:spcPts val="1435"/>
              </a:spcBef>
            </a:pPr>
            <a:r>
              <a:rPr sz="2000" dirty="0">
                <a:latin typeface="Calibri"/>
                <a:cs typeface="Calibri"/>
              </a:rPr>
              <a:t>Earning</a:t>
            </a:r>
            <a:r>
              <a:rPr sz="2000" spc="3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3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RHCSA</a:t>
            </a:r>
            <a:r>
              <a:rPr sz="2000" spc="2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certification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2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2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significant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professional</a:t>
            </a:r>
            <a:r>
              <a:rPr sz="2000" spc="3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milestone,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showcasing</a:t>
            </a:r>
            <a:r>
              <a:rPr sz="2000" spc="3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practical</a:t>
            </a:r>
            <a:r>
              <a:rPr sz="2000" spc="2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knowledge</a:t>
            </a:r>
            <a:r>
              <a:rPr sz="2000" spc="3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readiness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manage</a:t>
            </a:r>
            <a:r>
              <a:rPr sz="2000" spc="3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real-</a:t>
            </a:r>
            <a:r>
              <a:rPr sz="2000" dirty="0">
                <a:latin typeface="Calibri"/>
                <a:cs typeface="Calibri"/>
              </a:rPr>
              <a:t>world</a:t>
            </a:r>
            <a:r>
              <a:rPr sz="2000" spc="3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systems.</a:t>
            </a:r>
            <a:r>
              <a:rPr sz="2000" spc="3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certification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enhances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credibility</a:t>
            </a:r>
            <a:r>
              <a:rPr sz="2000" spc="3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3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Linux</a:t>
            </a:r>
            <a:r>
              <a:rPr sz="2000" spc="3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 </a:t>
            </a:r>
            <a:r>
              <a:rPr sz="2000" dirty="0">
                <a:latin typeface="Calibri"/>
                <a:cs typeface="Calibri"/>
              </a:rPr>
              <a:t>administrator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opens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career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opportunities</a:t>
            </a:r>
            <a:r>
              <a:rPr sz="2000" spc="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positions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advanced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certifications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</a:t>
            </a:r>
            <a:r>
              <a:rPr sz="2000" spc="7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Red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Hat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Certified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Engineer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(RHCE).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strong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foundation</a:t>
            </a:r>
            <a:r>
              <a:rPr sz="2000" spc="1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future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growth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advancement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ever- </a:t>
            </a:r>
            <a:r>
              <a:rPr sz="2000" dirty="0">
                <a:latin typeface="Calibri"/>
                <a:cs typeface="Calibri"/>
              </a:rPr>
              <a:t>evolving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field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52645" y="38036"/>
            <a:ext cx="27527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82967" y="773429"/>
            <a:ext cx="6945630" cy="254140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154400"/>
              </a:lnSpc>
              <a:spcBef>
                <a:spcPts val="115"/>
              </a:spcBef>
            </a:pPr>
            <a:r>
              <a:rPr sz="1800" u="sng" spc="-20" dirty="0">
                <a:solidFill>
                  <a:srgbClr val="006EC0"/>
                </a:solidFill>
                <a:uFill>
                  <a:solidFill>
                    <a:srgbClr val="006EC0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1800" u="sng" spc="-10" dirty="0">
                <a:solidFill>
                  <a:srgbClr val="006EC0"/>
                </a:solidFill>
                <a:uFill>
                  <a:solidFill>
                    <a:srgbClr val="006EC0"/>
                  </a:solidFill>
                </a:uFill>
                <a:latin typeface="Calibri"/>
                <a:cs typeface="Calibri"/>
                <a:hlinkClick r:id="rId2"/>
              </a:rPr>
              <a:t>https://en.wikipedia.org/wiki/Red_Hat</a:t>
            </a:r>
            <a:r>
              <a:rPr sz="1800" spc="-10" dirty="0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sz="1800" u="sng" spc="-10" dirty="0">
                <a:solidFill>
                  <a:srgbClr val="006EC0"/>
                </a:solidFill>
                <a:uFill>
                  <a:solidFill>
                    <a:srgbClr val="006EC0"/>
                  </a:solidFill>
                </a:uFill>
                <a:latin typeface="Calibri"/>
                <a:cs typeface="Calibri"/>
                <a:hlinkClick r:id="rId3"/>
              </a:rPr>
              <a:t>https://developers.redhat.com/blog?type=article</a:t>
            </a:r>
            <a:r>
              <a:rPr sz="1800" spc="-10" dirty="0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sz="1800" u="sng" spc="-25" dirty="0">
                <a:solidFill>
                  <a:srgbClr val="006EC0"/>
                </a:solidFill>
                <a:uFill>
                  <a:solidFill>
                    <a:srgbClr val="006EC0"/>
                  </a:solidFill>
                </a:uFill>
                <a:latin typeface="Calibri"/>
                <a:cs typeface="Calibri"/>
                <a:hlinkClick r:id="rId4"/>
              </a:rPr>
              <a:t>https://www.redhat.com/en/technologies/linux-platforms/enterprise-</a:t>
            </a:r>
            <a:r>
              <a:rPr sz="1800" u="sng" spc="-10" dirty="0">
                <a:solidFill>
                  <a:srgbClr val="006EC0"/>
                </a:solidFill>
                <a:uFill>
                  <a:solidFill>
                    <a:srgbClr val="006EC0"/>
                  </a:solidFill>
                </a:uFill>
                <a:latin typeface="Calibri"/>
                <a:cs typeface="Calibri"/>
                <a:hlinkClick r:id="rId4"/>
              </a:rPr>
              <a:t>linux</a:t>
            </a:r>
            <a:r>
              <a:rPr sz="1800" spc="-10" dirty="0">
                <a:solidFill>
                  <a:srgbClr val="006EC0"/>
                </a:solidFill>
                <a:latin typeface="Calibri"/>
                <a:cs typeface="Calibri"/>
              </a:rPr>
              <a:t> </a:t>
            </a:r>
            <a:r>
              <a:rPr sz="1800" u="sng" spc="-10" dirty="0">
                <a:solidFill>
                  <a:srgbClr val="006EC0"/>
                </a:solidFill>
                <a:uFill>
                  <a:solidFill>
                    <a:srgbClr val="006EC0"/>
                  </a:solidFill>
                </a:uFill>
                <a:latin typeface="Calibri"/>
                <a:cs typeface="Calibri"/>
                <a:hlinkClick r:id="rId5"/>
              </a:rPr>
              <a:t>https://www.redhat.com/en/about</a:t>
            </a:r>
            <a:endParaRPr lang="en-US" sz="1800" u="sng" spc="-10" dirty="0">
              <a:solidFill>
                <a:srgbClr val="006EC0"/>
              </a:solidFill>
              <a:uFill>
                <a:solidFill>
                  <a:srgbClr val="006EC0"/>
                </a:solidFill>
              </a:uFill>
              <a:latin typeface="Calibri"/>
              <a:cs typeface="Calibri"/>
            </a:endParaRPr>
          </a:p>
          <a:p>
            <a:pPr marL="12700" marR="5080">
              <a:lnSpc>
                <a:spcPct val="154400"/>
              </a:lnSpc>
              <a:spcBef>
                <a:spcPts val="115"/>
              </a:spcBef>
            </a:pPr>
            <a:r>
              <a:rPr lang="en-IN" sz="1800" dirty="0">
                <a:latin typeface="Calibri"/>
                <a:cs typeface="Calibri"/>
                <a:hlinkClick r:id="rId6"/>
              </a:rPr>
              <a:t>https://github.com/rahulprajapati23/RHCSA_v9.0/blob/main/RHCSA_CHEATSHEET_v9.0.pdf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6865" y="2458338"/>
            <a:ext cx="5234940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u="none" dirty="0">
                <a:latin typeface="Times New Roman"/>
                <a:cs typeface="Times New Roman"/>
              </a:rPr>
              <a:t>Thank</a:t>
            </a:r>
            <a:r>
              <a:rPr sz="8000" u="none" spc="-325" dirty="0">
                <a:latin typeface="Times New Roman"/>
                <a:cs typeface="Times New Roman"/>
              </a:rPr>
              <a:t> </a:t>
            </a:r>
            <a:r>
              <a:rPr sz="8000" u="none" spc="-645" dirty="0">
                <a:latin typeface="Times New Roman"/>
                <a:cs typeface="Times New Roman"/>
              </a:rPr>
              <a:t>Y</a:t>
            </a:r>
            <a:r>
              <a:rPr sz="8000" u="none" spc="145" dirty="0">
                <a:latin typeface="Times New Roman"/>
                <a:cs typeface="Times New Roman"/>
              </a:rPr>
              <a:t>ou</a:t>
            </a:r>
            <a:r>
              <a:rPr sz="8000" u="none" spc="160" dirty="0">
                <a:latin typeface="Times New Roman"/>
                <a:cs typeface="Times New Roman"/>
              </a:rPr>
              <a:t>!</a:t>
            </a:r>
            <a:r>
              <a:rPr sz="8000" u="none" spc="10" dirty="0">
                <a:latin typeface="Times New Roman"/>
                <a:cs typeface="Times New Roman"/>
              </a:rPr>
              <a:t>!</a:t>
            </a:r>
            <a:endParaRPr sz="8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1407</Words>
  <Application>Microsoft Office PowerPoint</Application>
  <PresentationFormat>Widescreen</PresentationFormat>
  <Paragraphs>128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 MT</vt:lpstr>
      <vt:lpstr>Calibri</vt:lpstr>
      <vt:lpstr>Calibri Light</vt:lpstr>
      <vt:lpstr>Times New Roman</vt:lpstr>
      <vt:lpstr>Wingdings</vt:lpstr>
      <vt:lpstr>Office Theme</vt:lpstr>
      <vt:lpstr>Summer Internship</vt:lpstr>
      <vt:lpstr>Table of Contents</vt:lpstr>
      <vt:lpstr>Introduction</vt:lpstr>
      <vt:lpstr>Objectives &amp; Scope</vt:lpstr>
      <vt:lpstr>Expected Outcome</vt:lpstr>
      <vt:lpstr>Tools &amp; Technology</vt:lpstr>
      <vt:lpstr>Methodology</vt:lpstr>
      <vt:lpstr>PowerPoint Presentation</vt:lpstr>
      <vt:lpstr>Implementation Details</vt:lpstr>
      <vt:lpstr>Conclusion</vt:lpstr>
      <vt:lpstr>References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Rahul Prajapati</dc:creator>
  <cp:lastModifiedBy>Rahul Prajapati</cp:lastModifiedBy>
  <cp:revision>1</cp:revision>
  <dcterms:created xsi:type="dcterms:W3CDTF">2025-11-07T09:26:00Z</dcterms:created>
  <dcterms:modified xsi:type="dcterms:W3CDTF">2025-11-07T09:29:20Z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2025-11-07T00:00:00Z</vt:filetime>
  </property>
  <property fmtid="{D5CDD505-2E9C-101B-9397-08002B2CF9AE}" pid="3" name="Creator">
    <vt:lpwstr>Microsoft Word</vt:lpwstr>
  </property>
  <property fmtid="{D5CDD505-2E9C-101B-9397-08002B2CF9AE}" pid="4" name="LastSaved">
    <vt:filetime>2025-11-07T00:00:00Z</vt:filetime>
  </property>
</Properties>
</file>